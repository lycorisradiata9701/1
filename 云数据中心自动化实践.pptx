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8" r:id="rId22"/>
    <p:sldId id="279" r:id="rId23"/>
    <p:sldId id="281" r:id="rId24"/>
  </p:sldIdLst>
  <p:sldSz cx="12192000" cy="6858000"/>
  <p:notesSz cx="6858000" cy="9144000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7" autoAdjust="0"/>
    <p:restoredTop sz="86483" autoAdjust="0"/>
  </p:normalViewPr>
  <p:slideViewPr>
    <p:cSldViewPr snapToGrid="0">
      <p:cViewPr varScale="1">
        <p:scale>
          <a:sx n="66" d="100"/>
          <a:sy n="66" d="100"/>
        </p:scale>
        <p:origin x="96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44A47-6B04-4B40-A66B-247551E5D2A2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D14968-44EE-4C51-BDC1-820FE6141C8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44bce3a4-c942-47be-9524-135b0bfd538c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标题 5" descr="e16606a6-1bd6-46cd-afa7-09d924709421"/>
          <p:cNvSpPr>
            <a:spLocks noGrp="1"/>
          </p:cNvSpPr>
          <p:nvPr>
            <p:ph type="ctrTitle" hasCustomPrompt="1"/>
          </p:nvPr>
        </p:nvSpPr>
        <p:spPr>
          <a:xfrm>
            <a:off x="660400" y="1028700"/>
            <a:ext cx="6146800" cy="2582304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algn="l">
              <a:lnSpc>
                <a:spcPct val="100000"/>
              </a:lnSpc>
              <a:defRPr sz="66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2" name="副标题 11" descr="64a9f416-948f-4d68-b59d-4a3fcd0e8c1e"/>
          <p:cNvSpPr>
            <a:spLocks noGrp="1"/>
          </p:cNvSpPr>
          <p:nvPr>
            <p:ph type="subTitle" sz="quarter" idx="1" hasCustomPrompt="1"/>
          </p:nvPr>
        </p:nvSpPr>
        <p:spPr>
          <a:xfrm>
            <a:off x="660400" y="3877358"/>
            <a:ext cx="6146800" cy="635105"/>
          </a:xfrm>
          <a:prstGeom prst="roundRect">
            <a:avLst>
              <a:gd name="adj" fmla="val 0"/>
            </a:avLst>
          </a:prstGeom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indent="0" algn="l">
              <a:lnSpc>
                <a:spcPct val="120000"/>
              </a:lnSpc>
              <a:buNone/>
              <a:defRPr lang="en-US" sz="2000"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文本占位符 3" descr="7427ea86-23ec-43b6-83e5-b1e298ea5302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5557103"/>
            <a:ext cx="2822496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文本占位符 4" descr="463c47ed-84ea-4e94-9d98-3de46c9a84b8"/>
          <p:cNvSpPr>
            <a:spLocks noGrp="1"/>
          </p:cNvSpPr>
          <p:nvPr>
            <p:ph type="body" sz="quarter" idx="14" hasCustomPrompt="1"/>
          </p:nvPr>
        </p:nvSpPr>
        <p:spPr>
          <a:xfrm>
            <a:off x="660399" y="5857101"/>
            <a:ext cx="2822497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 descr="442d8a6e-a5e8-46c8-8bd3-7df59c4578a6"/>
          <p:cNvSpPr>
            <a:spLocks noGrp="1"/>
          </p:cNvSpPr>
          <p:nvPr>
            <p:ph type="title" hasCustomPrompt="1"/>
          </p:nvPr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8" name="内容占位符 7" descr="7b1681a7-c0d4-47ee-8d2d-ee3fc0b47457"/>
          <p:cNvSpPr>
            <a:spLocks noGrp="1"/>
          </p:cNvSpPr>
          <p:nvPr>
            <p:ph idx="1" hasCustomPrompt="1"/>
          </p:nvPr>
        </p:nvSpPr>
        <p:spPr>
          <a:xfrm>
            <a:off x="660400" y="1092200"/>
            <a:ext cx="10858500" cy="5041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日期占位符 1" descr="743dd093-002e-44c1-87c0-3dfe2934223f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FD90F-8391-4C02-9212-32614234382E}" type="datetime1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3" name="页脚占位符 2" descr="da01b6a1-2613-4145-82b8-fbf3174c61ed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iSlide</a:t>
            </a:r>
            <a:endParaRPr lang="zh-CN" altLang="en-US"/>
          </a:p>
        </p:txBody>
      </p:sp>
      <p:sp>
        <p:nvSpPr>
          <p:cNvPr id="4" name="灯片编号占位符 3" descr="a4d4fc45-7a97-4172-bb65-e468ad3628a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 descr="da163f18-a468-4291-b0cf-a8c74c757a20"/>
          <p:cNvSpPr>
            <a:spLocks noGrp="1"/>
          </p:cNvSpPr>
          <p:nvPr>
            <p:ph type="title" hasCustomPrompt="1"/>
          </p:nvPr>
        </p:nvSpPr>
        <p:spPr>
          <a:xfrm>
            <a:off x="660400" y="1500188"/>
            <a:ext cx="2836800" cy="914400"/>
          </a:xfrm>
          <a:prstGeom prst="rect">
            <a:avLst/>
          </a:prstGeom>
        </p:spPr>
        <p:txBody>
          <a:bodyPr wrap="none" anchor="t">
            <a:normAutofit/>
          </a:bodyPr>
          <a:lstStyle>
            <a:lvl1pPr algn="r">
              <a:lnSpc>
                <a:spcPct val="100000"/>
              </a:lnSpc>
              <a:defRPr sz="2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8" name="内容占位符 7" descr="c5f8f1ef-d899-4745-8595-cd17674f2073"/>
          <p:cNvSpPr>
            <a:spLocks noGrp="1"/>
          </p:cNvSpPr>
          <p:nvPr>
            <p:ph sz="quarter" idx="1" hasCustomPrompt="1"/>
          </p:nvPr>
        </p:nvSpPr>
        <p:spPr>
          <a:xfrm>
            <a:off x="3746500" y="1500187"/>
            <a:ext cx="7772400" cy="4633200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457200" indent="-457200">
              <a:lnSpc>
                <a:spcPct val="130000"/>
              </a:lnSpc>
              <a:buFont typeface="+mj-lt"/>
              <a:buAutoNum type="arabicPeriod"/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日期占位符 2" descr="4629c9ce-093f-476b-88dd-be19b799c86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  <a:t>2026/1/6</a:t>
            </a:fld>
            <a:endParaRPr lang="en-US" altLang="zh-CN"/>
          </a:p>
        </p:txBody>
      </p:sp>
      <p:sp>
        <p:nvSpPr>
          <p:cNvPr id="4" name="页脚占位符 3" descr="5596f805-8c67-4f8d-aa7f-78bb289fe7a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iSlide</a:t>
            </a:r>
            <a:endParaRPr lang="zh-CN" altLang="en-US"/>
          </a:p>
        </p:txBody>
      </p:sp>
      <p:sp>
        <p:nvSpPr>
          <p:cNvPr id="5" name="灯片编号占位符 4" descr="49d4ab2c-f4a5-4040-b82a-0d77b051404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t>‹#›</a:t>
            </a:fld>
            <a:endParaRPr lang="en-US" altLang="zh-CN"/>
          </a:p>
        </p:txBody>
      </p:sp>
      <p:grpSp>
        <p:nvGrpSpPr>
          <p:cNvPr id="11" name="组合 10" descr="c8b50a38-d880-47c4-9829-5d568f5f809f"/>
          <p:cNvGrpSpPr/>
          <p:nvPr/>
        </p:nvGrpSpPr>
        <p:grpSpPr>
          <a:xfrm>
            <a:off x="2626456" y="1500188"/>
            <a:ext cx="994563" cy="4634686"/>
            <a:chOff x="2626456" y="1500188"/>
            <a:chExt cx="994563" cy="4634686"/>
          </a:xfrm>
        </p:grpSpPr>
        <p:cxnSp>
          <p:nvCxnSpPr>
            <p:cNvPr id="12" name="直接连接符 11" descr="3e754d06-bc3c-4662-a8df-836c0c3a2f1c"/>
            <p:cNvCxnSpPr/>
            <p:nvPr/>
          </p:nvCxnSpPr>
          <p:spPr>
            <a:xfrm flipH="1">
              <a:off x="3621019" y="1500188"/>
              <a:ext cx="0" cy="4633913"/>
            </a:xfrm>
            <a:prstGeom prst="line">
              <a:avLst/>
            </a:prstGeom>
            <a:solidFill>
              <a:srgbClr val="FFCC00"/>
            </a:solidFill>
            <a:ln w="3175" cap="flat" cmpd="sng" algn="ctr">
              <a:solidFill>
                <a:schemeClr val="tx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" name="任意多边形: 形状 12" descr="ff3645b6-91ff-4982-8fb7-ef7dcde9cc58"/>
            <p:cNvSpPr>
              <a:spLocks noChangeAspect="1"/>
            </p:cNvSpPr>
            <p:nvPr/>
          </p:nvSpPr>
          <p:spPr bwMode="auto">
            <a:xfrm>
              <a:off x="2626456" y="5219207"/>
              <a:ext cx="870506" cy="915667"/>
            </a:xfrm>
            <a:custGeom>
              <a:avLst/>
              <a:gdLst>
                <a:gd name="T0" fmla="*/ 3353 w 5127"/>
                <a:gd name="T1" fmla="*/ 1728 h 5401"/>
                <a:gd name="T2" fmla="*/ 2183 w 5127"/>
                <a:gd name="T3" fmla="*/ 1608 h 5401"/>
                <a:gd name="T4" fmla="*/ 3353 w 5127"/>
                <a:gd name="T5" fmla="*/ 1488 h 5401"/>
                <a:gd name="T6" fmla="*/ 3103 w 5127"/>
                <a:gd name="T7" fmla="*/ 2231 h 5401"/>
                <a:gd name="T8" fmla="*/ 3103 w 5127"/>
                <a:gd name="T9" fmla="*/ 1991 h 5401"/>
                <a:gd name="T10" fmla="*/ 2432 w 5127"/>
                <a:gd name="T11" fmla="*/ 2111 h 5401"/>
                <a:gd name="T12" fmla="*/ 3103 w 5127"/>
                <a:gd name="T13" fmla="*/ 2231 h 5401"/>
                <a:gd name="T14" fmla="*/ 3353 w 5127"/>
                <a:gd name="T15" fmla="*/ 2648 h 5401"/>
                <a:gd name="T16" fmla="*/ 2183 w 5127"/>
                <a:gd name="T17" fmla="*/ 2768 h 5401"/>
                <a:gd name="T18" fmla="*/ 3353 w 5127"/>
                <a:gd name="T19" fmla="*/ 2888 h 5401"/>
                <a:gd name="T20" fmla="*/ 2552 w 5127"/>
                <a:gd name="T21" fmla="*/ 3151 h 5401"/>
                <a:gd name="T22" fmla="*/ 2552 w 5127"/>
                <a:gd name="T23" fmla="*/ 3391 h 5401"/>
                <a:gd name="T24" fmla="*/ 3223 w 5127"/>
                <a:gd name="T25" fmla="*/ 3271 h 5401"/>
                <a:gd name="T26" fmla="*/ 2552 w 5127"/>
                <a:gd name="T27" fmla="*/ 3151 h 5401"/>
                <a:gd name="T28" fmla="*/ 4448 w 5127"/>
                <a:gd name="T29" fmla="*/ 1442 h 5401"/>
                <a:gd name="T30" fmla="*/ 4688 w 5127"/>
                <a:gd name="T31" fmla="*/ 1442 h 5401"/>
                <a:gd name="T32" fmla="*/ 3988 w 5127"/>
                <a:gd name="T33" fmla="*/ 0 h 5401"/>
                <a:gd name="T34" fmla="*/ 0 w 5127"/>
                <a:gd name="T35" fmla="*/ 604 h 5401"/>
                <a:gd name="T36" fmla="*/ 120 w 5127"/>
                <a:gd name="T37" fmla="*/ 1792 h 5401"/>
                <a:gd name="T38" fmla="*/ 686 w 5127"/>
                <a:gd name="T39" fmla="*/ 1672 h 5401"/>
                <a:gd name="T40" fmla="*/ 240 w 5127"/>
                <a:gd name="T41" fmla="*/ 1552 h 5401"/>
                <a:gd name="T42" fmla="*/ 604 w 5127"/>
                <a:gd name="T43" fmla="*/ 240 h 5401"/>
                <a:gd name="T44" fmla="*/ 968 w 5127"/>
                <a:gd name="T45" fmla="*/ 4179 h 5401"/>
                <a:gd name="T46" fmla="*/ 3904 w 5127"/>
                <a:gd name="T47" fmla="*/ 4879 h 5401"/>
                <a:gd name="T48" fmla="*/ 3904 w 5127"/>
                <a:gd name="T49" fmla="*/ 4639 h 5401"/>
                <a:gd name="T50" fmla="*/ 1208 w 5127"/>
                <a:gd name="T51" fmla="*/ 4179 h 5401"/>
                <a:gd name="T52" fmla="*/ 1086 w 5127"/>
                <a:gd name="T53" fmla="*/ 240 h 5401"/>
                <a:gd name="T54" fmla="*/ 4448 w 5127"/>
                <a:gd name="T55" fmla="*/ 700 h 5401"/>
                <a:gd name="T56" fmla="*/ 4568 w 5127"/>
                <a:gd name="T57" fmla="*/ 2000 h 5401"/>
                <a:gd name="T58" fmla="*/ 4568 w 5127"/>
                <a:gd name="T59" fmla="*/ 2240 h 5401"/>
                <a:gd name="T60" fmla="*/ 4887 w 5127"/>
                <a:gd name="T61" fmla="*/ 2340 h 5401"/>
                <a:gd name="T62" fmla="*/ 5007 w 5127"/>
                <a:gd name="T63" fmla="*/ 3838 h 5401"/>
                <a:gd name="T64" fmla="*/ 5127 w 5127"/>
                <a:gd name="T65" fmla="*/ 2340 h 5401"/>
                <a:gd name="T66" fmla="*/ 4568 w 5127"/>
                <a:gd name="T67" fmla="*/ 5139 h 5401"/>
                <a:gd name="T68" fmla="*/ 4448 w 5127"/>
                <a:gd name="T69" fmla="*/ 5281 h 5401"/>
                <a:gd name="T70" fmla="*/ 4688 w 5127"/>
                <a:gd name="T71" fmla="*/ 5281 h 5401"/>
                <a:gd name="T72" fmla="*/ 4568 w 5127"/>
                <a:gd name="T73" fmla="*/ 5139 h 5401"/>
                <a:gd name="T74" fmla="*/ 4448 w 5127"/>
                <a:gd name="T75" fmla="*/ 2559 h 5401"/>
                <a:gd name="T76" fmla="*/ 4568 w 5127"/>
                <a:gd name="T77" fmla="*/ 4974 h 5401"/>
                <a:gd name="T78" fmla="*/ 4688 w 5127"/>
                <a:gd name="T79" fmla="*/ 2559 h 5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chemeClr val="tx1">
                <a:alpha val="1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5b5a1d83-018b-4880-a3af-3f6675cf1a4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标题 24" descr="7f0ea7ff-6ece-4b88-b112-01279104e764"/>
          <p:cNvSpPr>
            <a:spLocks noGrp="1"/>
          </p:cNvSpPr>
          <p:nvPr>
            <p:ph type="title" sz="quarter" hasCustomPrompt="1"/>
          </p:nvPr>
        </p:nvSpPr>
        <p:spPr>
          <a:xfrm>
            <a:off x="660400" y="2590800"/>
            <a:ext cx="5885543" cy="825500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 algn="l">
              <a:lnSpc>
                <a:spcPct val="100000"/>
              </a:lnSpc>
              <a:buFont typeface="+mj-lt"/>
              <a:buNone/>
              <a:defRPr sz="32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5" name="文本占位符 4" descr="b0e1de57-aa6c-49fa-971a-1b7e0077aa68"/>
          <p:cNvSpPr>
            <a:spLocks noGrp="1"/>
          </p:cNvSpPr>
          <p:nvPr>
            <p:ph type="body" idx="1" hasCustomPrompt="1"/>
          </p:nvPr>
        </p:nvSpPr>
        <p:spPr>
          <a:xfrm>
            <a:off x="660400" y="3429000"/>
            <a:ext cx="5885543" cy="150807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1600" b="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日期占位符 6" descr="21123619-8862-411f-991c-ec1d5d1b986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  <a:t>2026/1/6</a:t>
            </a:fld>
            <a:endParaRPr lang="en-US" altLang="zh-CN"/>
          </a:p>
        </p:txBody>
      </p:sp>
      <p:sp>
        <p:nvSpPr>
          <p:cNvPr id="8" name="页脚占位符 7" descr="dac1e784-47af-4f29-9ba3-a9464df99bb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iSlide</a:t>
            </a:r>
            <a:endParaRPr lang="zh-CN" altLang="en-US"/>
          </a:p>
        </p:txBody>
      </p:sp>
      <p:sp>
        <p:nvSpPr>
          <p:cNvPr id="9" name="灯片编号占位符 8" descr="7a4ce99d-2316-4948-9f3e-dd084f04ef8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 descr="986ed6b0-9799-47a5-a099-9370a2758316"/>
          <p:cNvSpPr>
            <a:spLocks noGrp="1"/>
          </p:cNvSpPr>
          <p:nvPr>
            <p:ph type="title" hasCustomPrompt="1"/>
          </p:nvPr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" name="日期占位符 1" descr="8e1910d6-abb9-44e1-a013-7f5d1a04702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FD90F-8391-4C02-9212-32614234382E}" type="datetime1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3" name="页脚占位符 2" descr="f5779cc0-9b14-4571-9f16-d4ff1425bf9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iSlide</a:t>
            </a:r>
            <a:endParaRPr lang="zh-CN" altLang="en-US"/>
          </a:p>
        </p:txBody>
      </p:sp>
      <p:sp>
        <p:nvSpPr>
          <p:cNvPr id="4" name="灯片编号占位符 3" descr="5a737f96-7be4-41dc-b565-89ad02661a1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 descr="027dac10-8c8e-4874-9e98-29ef392a460b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 descr="2f6e23dc-d84f-4149-97c4-aec99433296f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 descr="cedc207c-ac2a-4136-aaa4-fe93134c6fb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" preserve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e8ad55ec-588c-4ac7-b891-fa252e17d19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标题 5" descr="bd67d64a-7bd9-4108-aa98-d2a32ceff73e"/>
          <p:cNvSpPr>
            <a:spLocks noGrp="1"/>
          </p:cNvSpPr>
          <p:nvPr>
            <p:ph type="title" hasCustomPrompt="1"/>
          </p:nvPr>
        </p:nvSpPr>
        <p:spPr>
          <a:xfrm>
            <a:off x="660400" y="2120364"/>
            <a:ext cx="4457700" cy="1969035"/>
          </a:xfrm>
          <a:prstGeom prst="rect">
            <a:avLst/>
          </a:prstGeom>
        </p:spPr>
        <p:txBody>
          <a:bodyPr wrap="square" anchor="t" anchorCtr="0">
            <a:normAutofit/>
          </a:bodyPr>
          <a:lstStyle>
            <a:lvl1pPr algn="l">
              <a:lnSpc>
                <a:spcPct val="100000"/>
              </a:lnSpc>
              <a:defRPr sz="60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文本占位符 3" descr="f8347768-7361-4c6f-a29d-69915bcafbfc"/>
          <p:cNvSpPr>
            <a:spLocks noGrp="1"/>
          </p:cNvSpPr>
          <p:nvPr>
            <p:ph type="body" sz="quarter" idx="13" hasCustomPrompt="1"/>
          </p:nvPr>
        </p:nvSpPr>
        <p:spPr>
          <a:xfrm>
            <a:off x="660399" y="5580102"/>
            <a:ext cx="2822497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文本占位符 4" descr="c136a9f3-66d4-45cb-b25b-665328ca96b9"/>
          <p:cNvSpPr>
            <a:spLocks noGrp="1"/>
          </p:cNvSpPr>
          <p:nvPr>
            <p:ph type="body" sz="quarter" idx="14" hasCustomPrompt="1"/>
          </p:nvPr>
        </p:nvSpPr>
        <p:spPr>
          <a:xfrm>
            <a:off x="660399" y="5857101"/>
            <a:ext cx="2822497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20000"/>
                <a:lumOff val="80000"/>
                <a:alpha val="0"/>
              </a:schemeClr>
            </a:gs>
            <a:gs pos="100000">
              <a:schemeClr val="accent1">
                <a:alpha val="44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ransition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10" Type="http://schemas.openxmlformats.org/officeDocument/2006/relationships/slideLayout" Target="../slideLayouts/slideLayout5.xml"/><Relationship Id="rId4" Type="http://schemas.openxmlformats.org/officeDocument/2006/relationships/tags" Target="../tags/tag5.xml"/><Relationship Id="rId9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image" Target="../media/image2.jpeg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slideLayout" Target="../slideLayouts/slideLayout5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0" Type="http://schemas.openxmlformats.org/officeDocument/2006/relationships/tags" Target="../tags/tag20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.xml"/><Relationship Id="rId3" Type="http://schemas.openxmlformats.org/officeDocument/2006/relationships/tags" Target="../tags/tag24.xml"/><Relationship Id="rId7" Type="http://schemas.openxmlformats.org/officeDocument/2006/relationships/tags" Target="../tags/tag28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9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 descr="e16606a6-1bd6-46cd-afa7-09d924709421"/>
          <p:cNvSpPr>
            <a:spLocks noGrp="1"/>
          </p:cNvSpPr>
          <p:nvPr>
            <p:ph type="ctr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5400" b="1" i="0" u="none">
                <a:solidFill>
                  <a:srgbClr val="FFFFFF"/>
                </a:solidFill>
                <a:ea typeface="微软雅黑" panose="020B0503020204020204" charset="-122"/>
              </a:rPr>
              <a:t>云数据中心自动化实践</a:t>
            </a:r>
          </a:p>
        </p:txBody>
      </p:sp>
      <p:sp>
        <p:nvSpPr>
          <p:cNvPr id="12" name="副标题 11" descr="64a9f416-948f-4d68-b59d-4a3fcd0e8c1e"/>
          <p:cNvSpPr>
            <a:spLocks noGrp="1"/>
          </p:cNvSpPr>
          <p:nvPr>
            <p:ph type="subTitle" sz="quarter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2000" b="0" i="0" u="none">
                <a:solidFill>
                  <a:srgbClr val="FFFFFF"/>
                </a:solidFill>
                <a:ea typeface="微软雅黑" panose="020B0503020204020204" charset="-122"/>
              </a:rPr>
              <a:t>基于Ansible+Docker+Zabbix的课程设计汇报</a:t>
            </a:r>
          </a:p>
        </p:txBody>
      </p:sp>
      <p:sp>
        <p:nvSpPr>
          <p:cNvPr id="4" name="文本占位符 3" descr="7427ea86-23ec-43b6-83e5-b1e298ea5302"/>
          <p:cNvSpPr>
            <a:spLocks noGrp="1"/>
          </p:cNvSpPr>
          <p:nvPr>
            <p:ph type="body" sz="quarter" idx="13" hasCustomPrompt="1"/>
          </p:nvPr>
        </p:nvSpPr>
        <p:spPr/>
        <p:txBody>
          <a:bodyPr anchorCtr="0">
            <a:normAutofit fontScale="97500"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lang="zh-CN" altLang="en-US" sz="1200" b="0" i="0" u="none">
                <a:solidFill>
                  <a:srgbClr val="FFFFFF"/>
                </a:solidFill>
                <a:ea typeface="微软雅黑" panose="020B0503020204020204" charset="-122"/>
              </a:rPr>
              <a:t>曾庆庆、卢燕玲</a:t>
            </a:r>
          </a:p>
        </p:txBody>
      </p:sp>
      <p:sp>
        <p:nvSpPr>
          <p:cNvPr id="5" name="文本占位符 4" descr="463c47ed-84ea-4e94-9d98-3de46c9a84b8"/>
          <p:cNvSpPr>
            <a:spLocks noGrp="1"/>
          </p:cNvSpPr>
          <p:nvPr>
            <p:ph type="body" sz="quarter" idx="14" hasCustomPrompt="1"/>
          </p:nvPr>
        </p:nvSpPr>
        <p:spPr/>
        <p:txBody>
          <a:bodyPr anchorCtr="0">
            <a:normAutofit fontScale="95000"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lang="en-US" altLang="zh-CN">
                <a:latin typeface="微软雅黑" panose="020B0503020204020204" charset="-122"/>
              </a:rPr>
              <a:t>2026.1.6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970d6b1-b2e5-4c07-ac32-a6788eccae10.source.7.zh-Hans.pptx" descr="6a40d82a-781c-4867-beb9-2df7410498a3"/>
          <p:cNvGrpSpPr/>
          <p:nvPr/>
        </p:nvGrpSpPr>
        <p:grpSpPr>
          <a:xfrm>
            <a:off x="0" y="1"/>
            <a:ext cx="11518900" cy="6858000"/>
            <a:chOff x="0" y="1"/>
            <a:chExt cx="11518900" cy="6858000"/>
          </a:xfrm>
        </p:grpSpPr>
        <p:sp>
          <p:nvSpPr>
            <p:cNvPr id="70" name="矩形: 剪去对角 69" descr="b3b8948c-0e40-4a11-9f4a-7672c31d31a2"/>
            <p:cNvSpPr/>
            <p:nvPr/>
          </p:nvSpPr>
          <p:spPr>
            <a:xfrm>
              <a:off x="0" y="1"/>
              <a:ext cx="3497943" cy="6858000"/>
            </a:xfrm>
            <a:prstGeom prst="snip2DiagRect">
              <a:avLst/>
            </a:prstGeom>
            <a:solidFill>
              <a:schemeClr val="tx2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/>
            </a:p>
          </p:txBody>
        </p:sp>
        <p:sp>
          <p:nvSpPr>
            <p:cNvPr id="46" name="Title" descr="7438f7a7-19c2-4a4e-a3d4-ded21f2af81a"/>
            <p:cNvSpPr/>
            <p:nvPr/>
          </p:nvSpPr>
          <p:spPr>
            <a:xfrm>
              <a:off x="660400" y="1162406"/>
              <a:ext cx="1292662" cy="3477875"/>
            </a:xfrm>
            <a:prstGeom prst="rect">
              <a:avLst/>
            </a:prstGeom>
          </p:spPr>
          <p:txBody>
            <a:bodyPr vert="eaVert" wrap="none" anchor="t" anchorCtr="0">
              <a:spAutoFit/>
            </a:bodyPr>
            <a:lstStyle/>
            <a:p>
              <a:pPr algn="l"/>
              <a:endParaRPr lang="en-US" sz="7200" b="1" i="0" u="none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grpSp>
          <p:nvGrpSpPr>
            <p:cNvPr id="48" name="组合 47" descr="95bf16e8-acc7-4c8b-9893-8c35f2614bab"/>
            <p:cNvGrpSpPr/>
            <p:nvPr/>
          </p:nvGrpSpPr>
          <p:grpSpPr>
            <a:xfrm>
              <a:off x="2959104" y="1348922"/>
              <a:ext cx="4121158" cy="919919"/>
              <a:chOff x="660400" y="3598180"/>
              <a:chExt cx="4515754" cy="1008000"/>
            </a:xfrm>
          </p:grpSpPr>
          <p:sp>
            <p:nvSpPr>
              <p:cNvPr id="47" name="Bullet1" descr="6f323a71-3075-4a16-8cf1-b43214db7a6d"/>
              <p:cNvSpPr/>
              <p:nvPr/>
            </p:nvSpPr>
            <p:spPr>
              <a:xfrm>
                <a:off x="1199240" y="3731729"/>
                <a:ext cx="3976914" cy="874451"/>
              </a:xfrm>
              <a:prstGeom prst="rect">
                <a:avLst/>
              </a:prstGeom>
              <a:solidFill>
                <a:schemeClr val="accent1">
                  <a:alpha val="15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20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实验环境规划与搭建</a:t>
                </a:r>
              </a:p>
            </p:txBody>
          </p:sp>
          <p:sp>
            <p:nvSpPr>
              <p:cNvPr id="41" name="Number1" descr="b0795eb0-b768-4131-99e9-8f439a466da2"/>
              <p:cNvSpPr/>
              <p:nvPr/>
            </p:nvSpPr>
            <p:spPr>
              <a:xfrm>
                <a:off x="660400" y="3598180"/>
                <a:ext cx="1008000" cy="1008000"/>
              </a:xfrm>
              <a:prstGeom prst="snip2Diag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lIns="91440" tIns="45720" rIns="91440" bIns="45720" anchor="ctr" anchorCtr="0"/>
              <a:lstStyle/>
              <a:p>
                <a:pPr algn="ctr"/>
                <a:r>
                  <a:rPr lang="en-US" sz="4000" b="1" i="0" u="none">
                    <a:solidFill>
                      <a:srgbClr val="FFFFFF"/>
                    </a:solidFill>
                    <a:latin typeface="Arial" panose="020B0604020202020204"/>
                  </a:rPr>
                  <a:t>1</a:t>
                </a:r>
              </a:p>
            </p:txBody>
          </p:sp>
        </p:grpSp>
        <p:grpSp>
          <p:nvGrpSpPr>
            <p:cNvPr id="55" name="组合 54" descr="04b25245-9e6c-479d-9934-5ce32947fa15"/>
            <p:cNvGrpSpPr/>
            <p:nvPr/>
          </p:nvGrpSpPr>
          <p:grpSpPr>
            <a:xfrm>
              <a:off x="2959104" y="2564468"/>
              <a:ext cx="4121158" cy="919919"/>
              <a:chOff x="660400" y="3598180"/>
              <a:chExt cx="4515754" cy="1008000"/>
            </a:xfrm>
          </p:grpSpPr>
          <p:sp>
            <p:nvSpPr>
              <p:cNvPr id="56" name="Bullet2" descr="e333aeea-fb98-469b-83a8-24409fa336db"/>
              <p:cNvSpPr/>
              <p:nvPr/>
            </p:nvSpPr>
            <p:spPr>
              <a:xfrm>
                <a:off x="1199240" y="3731729"/>
                <a:ext cx="3976914" cy="874451"/>
              </a:xfrm>
              <a:prstGeom prst="rect">
                <a:avLst/>
              </a:prstGeom>
              <a:solidFill>
                <a:schemeClr val="accent2">
                  <a:alpha val="15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2000" b="1" i="0" u="none">
                    <a:solidFill>
                      <a:srgbClr val="000000"/>
                    </a:solidFill>
                    <a:latin typeface="Arial" panose="020B0604020202020204"/>
                  </a:rPr>
                  <a:t>Ansible自动化基础配置</a:t>
                </a:r>
              </a:p>
            </p:txBody>
          </p:sp>
          <p:sp>
            <p:nvSpPr>
              <p:cNvPr id="57" name="Number2" descr="6522b915-5459-47d4-8b08-9af636340f18"/>
              <p:cNvSpPr/>
              <p:nvPr/>
            </p:nvSpPr>
            <p:spPr>
              <a:xfrm>
                <a:off x="660400" y="3598180"/>
                <a:ext cx="1008000" cy="1008000"/>
              </a:xfrm>
              <a:prstGeom prst="snip2Diag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lIns="91440" tIns="45720" rIns="91440" bIns="45720" anchor="ctr" anchorCtr="0"/>
              <a:lstStyle/>
              <a:p>
                <a:pPr algn="ctr"/>
                <a:r>
                  <a:rPr lang="en-US" sz="4000" b="1" i="0" u="none">
                    <a:solidFill>
                      <a:srgbClr val="FFFFFF"/>
                    </a:solidFill>
                    <a:latin typeface="Arial" panose="020B0604020202020204"/>
                  </a:rPr>
                  <a:t>2</a:t>
                </a:r>
              </a:p>
            </p:txBody>
          </p:sp>
        </p:grpSp>
        <p:grpSp>
          <p:nvGrpSpPr>
            <p:cNvPr id="58" name="组合 57" descr="ec020976-073c-41c8-8d75-23638bdc5e4c"/>
            <p:cNvGrpSpPr/>
            <p:nvPr/>
          </p:nvGrpSpPr>
          <p:grpSpPr>
            <a:xfrm>
              <a:off x="2959104" y="3780014"/>
              <a:ext cx="4121158" cy="919919"/>
              <a:chOff x="660400" y="3598180"/>
              <a:chExt cx="4515754" cy="1008000"/>
            </a:xfrm>
          </p:grpSpPr>
          <p:sp>
            <p:nvSpPr>
              <p:cNvPr id="59" name="Bullet3" descr="b4058233-717f-42c6-8565-acf64a5a8c8e"/>
              <p:cNvSpPr/>
              <p:nvPr/>
            </p:nvSpPr>
            <p:spPr>
              <a:xfrm>
                <a:off x="1199240" y="3731729"/>
                <a:ext cx="3976914" cy="874451"/>
              </a:xfrm>
              <a:prstGeom prst="rect">
                <a:avLst/>
              </a:prstGeom>
              <a:solidFill>
                <a:schemeClr val="accent3">
                  <a:alpha val="15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20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核心服务自动化部署</a:t>
                </a:r>
              </a:p>
            </p:txBody>
          </p:sp>
          <p:sp>
            <p:nvSpPr>
              <p:cNvPr id="60" name="Number3" descr="09f31c65-9099-4174-b2d3-138913409e33"/>
              <p:cNvSpPr/>
              <p:nvPr/>
            </p:nvSpPr>
            <p:spPr>
              <a:xfrm>
                <a:off x="660400" y="3598180"/>
                <a:ext cx="1008000" cy="1008000"/>
              </a:xfrm>
              <a:prstGeom prst="snip2Diag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lIns="91440" tIns="45720" rIns="91440" bIns="45720" anchor="ctr" anchorCtr="0"/>
              <a:lstStyle/>
              <a:p>
                <a:pPr algn="ctr"/>
                <a:r>
                  <a:rPr lang="en-US" sz="4000" b="1" i="0" u="none">
                    <a:solidFill>
                      <a:srgbClr val="FFFFFF"/>
                    </a:solidFill>
                    <a:latin typeface="Arial" panose="020B0604020202020204"/>
                  </a:rPr>
                  <a:t>3</a:t>
                </a:r>
              </a:p>
            </p:txBody>
          </p:sp>
        </p:grpSp>
        <p:grpSp>
          <p:nvGrpSpPr>
            <p:cNvPr id="9" name="组合 8" descr="2d915cf3-7c60-48a3-9272-3b06a895c114"/>
            <p:cNvGrpSpPr/>
            <p:nvPr/>
          </p:nvGrpSpPr>
          <p:grpSpPr>
            <a:xfrm>
              <a:off x="7397742" y="4387786"/>
              <a:ext cx="4121158" cy="919919"/>
              <a:chOff x="660400" y="3598180"/>
              <a:chExt cx="4515754" cy="1008000"/>
            </a:xfrm>
          </p:grpSpPr>
          <p:sp>
            <p:nvSpPr>
              <p:cNvPr id="13" name="Bullet4" descr="af0541ca-d023-4a1a-9cef-ff0a1bb981ef"/>
              <p:cNvSpPr/>
              <p:nvPr/>
            </p:nvSpPr>
            <p:spPr>
              <a:xfrm>
                <a:off x="1199240" y="3731729"/>
                <a:ext cx="3976914" cy="874451"/>
              </a:xfrm>
              <a:prstGeom prst="rect">
                <a:avLst/>
              </a:prstGeom>
              <a:solidFill>
                <a:schemeClr val="accent3">
                  <a:alpha val="15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2000" b="1" i="0" u="none">
                    <a:solidFill>
                      <a:srgbClr val="000000"/>
                    </a:solidFill>
                    <a:latin typeface="Arial" panose="020B0604020202020204"/>
                  </a:rPr>
                  <a:t>总结与思考</a:t>
                </a:r>
                <a:endParaRPr lang="en-US" sz="2000" b="1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14" name="Number4" descr="4ab951ac-e89b-493d-b4ed-638b97b070ac"/>
              <p:cNvSpPr/>
              <p:nvPr/>
            </p:nvSpPr>
            <p:spPr>
              <a:xfrm>
                <a:off x="660400" y="3598180"/>
                <a:ext cx="1008000" cy="1008000"/>
              </a:xfrm>
              <a:prstGeom prst="snip2Diag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lIns="91440" tIns="45720" rIns="91440" bIns="45720" anchor="ctr" anchorCtr="0"/>
              <a:lstStyle/>
              <a:p>
                <a:pPr algn="ctr"/>
                <a:r>
                  <a:rPr lang="en-US" sz="4000" b="1" i="0" u="none">
                    <a:solidFill>
                      <a:srgbClr val="FFFFFF"/>
                    </a:solidFill>
                    <a:latin typeface="Arial" panose="020B0604020202020204"/>
                  </a:rPr>
                  <a:t>7</a:t>
                </a:r>
              </a:p>
            </p:txBody>
          </p:sp>
        </p:grpSp>
        <p:grpSp>
          <p:nvGrpSpPr>
            <p:cNvPr id="61" name="组合 60" descr="889962a9-f93f-433d-a9d5-1d2e74b58891"/>
            <p:cNvGrpSpPr/>
            <p:nvPr/>
          </p:nvGrpSpPr>
          <p:grpSpPr>
            <a:xfrm>
              <a:off x="2959104" y="4995560"/>
              <a:ext cx="4121158" cy="919919"/>
              <a:chOff x="660400" y="3598180"/>
              <a:chExt cx="4515754" cy="1008000"/>
            </a:xfrm>
          </p:grpSpPr>
          <p:sp>
            <p:nvSpPr>
              <p:cNvPr id="62" name="Bullet5" descr="241487ca-f2a8-4e3b-ab4d-142bc8fba5b9"/>
              <p:cNvSpPr/>
              <p:nvPr/>
            </p:nvSpPr>
            <p:spPr>
              <a:xfrm>
                <a:off x="1199240" y="3731729"/>
                <a:ext cx="3976914" cy="874451"/>
              </a:xfrm>
              <a:prstGeom prst="rect">
                <a:avLst/>
              </a:prstGeom>
              <a:solidFill>
                <a:schemeClr val="accent4">
                  <a:alpha val="15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2000" b="1" i="0" u="none">
                    <a:solidFill>
                      <a:srgbClr val="000000"/>
                    </a:solidFill>
                    <a:latin typeface="Arial" panose="020B0604020202020204"/>
                  </a:rPr>
                  <a:t>Docker</a:t>
                </a:r>
                <a:r>
                  <a:rPr lang="zh-CN" altLang="en-US" sz="2000" b="1" i="0" u="none">
                    <a:solidFill>
                      <a:srgbClr val="000000"/>
                    </a:solidFill>
                    <a:latin typeface="Arial" panose="020B0604020202020204"/>
                  </a:rPr>
                  <a:t>容器化实践</a:t>
                </a:r>
              </a:p>
            </p:txBody>
          </p:sp>
          <p:sp>
            <p:nvSpPr>
              <p:cNvPr id="63" name="Number5" descr="a7c8b827-da9c-4fc8-ab4a-6542207faf3d"/>
              <p:cNvSpPr/>
              <p:nvPr/>
            </p:nvSpPr>
            <p:spPr>
              <a:xfrm>
                <a:off x="660400" y="3598180"/>
                <a:ext cx="1008000" cy="1008000"/>
              </a:xfrm>
              <a:prstGeom prst="snip2Diag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lIns="91440" tIns="45720" rIns="91440" bIns="45720" anchor="ctr" anchorCtr="0"/>
              <a:lstStyle/>
              <a:p>
                <a:pPr algn="ctr"/>
                <a:r>
                  <a:rPr lang="en-US" sz="4000" b="1" i="0" u="none">
                    <a:solidFill>
                      <a:srgbClr val="FFFFFF"/>
                    </a:solidFill>
                    <a:latin typeface="Arial" panose="020B0604020202020204"/>
                  </a:rPr>
                  <a:t>4</a:t>
                </a:r>
              </a:p>
            </p:txBody>
          </p:sp>
        </p:grpSp>
        <p:grpSp>
          <p:nvGrpSpPr>
            <p:cNvPr id="7" name="组合 6" descr="61703051-4267-4ee8-960e-072cd3f04c8e"/>
            <p:cNvGrpSpPr/>
            <p:nvPr/>
          </p:nvGrpSpPr>
          <p:grpSpPr>
            <a:xfrm>
              <a:off x="7397742" y="1956695"/>
              <a:ext cx="4121158" cy="919919"/>
              <a:chOff x="660400" y="3598180"/>
              <a:chExt cx="4515754" cy="1008000"/>
            </a:xfrm>
          </p:grpSpPr>
          <p:sp>
            <p:nvSpPr>
              <p:cNvPr id="17" name="Bullet6" descr="9dcc9cac-a3b0-4575-95f1-44dc61487ee7"/>
              <p:cNvSpPr/>
              <p:nvPr/>
            </p:nvSpPr>
            <p:spPr>
              <a:xfrm>
                <a:off x="1199240" y="3731729"/>
                <a:ext cx="3976914" cy="874451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 lnSpcReduction="10000"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2000" b="1">
                    <a:solidFill>
                      <a:srgbClr val="000000"/>
                    </a:solidFill>
                    <a:latin typeface="Arial" panose="020B0604020202020204"/>
                    <a:sym typeface="+mn-ea"/>
                  </a:rPr>
                  <a:t>zaZabbix监控平台搭建与定制告警</a:t>
                </a:r>
                <a:endParaRPr lang="en-US" sz="2000" b="1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8" name="Number6" descr="8aed3457-728b-4dfe-8369-a249edea8b89"/>
              <p:cNvSpPr/>
              <p:nvPr/>
            </p:nvSpPr>
            <p:spPr>
              <a:xfrm>
                <a:off x="660400" y="3598180"/>
                <a:ext cx="1008000" cy="1008000"/>
              </a:xfrm>
              <a:prstGeom prst="snip2Diag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lIns="91440" tIns="45720" rIns="91440" bIns="45720" anchor="ctr" anchorCtr="0"/>
              <a:lstStyle/>
              <a:p>
                <a:pPr algn="ctr"/>
                <a:r>
                  <a:rPr lang="en-US" sz="4000" b="1" i="0" u="none">
                    <a:solidFill>
                      <a:srgbClr val="FFFFFF"/>
                    </a:solidFill>
                    <a:latin typeface="Arial" panose="020B0604020202020204"/>
                  </a:rPr>
                  <a:t>5</a:t>
                </a:r>
              </a:p>
            </p:txBody>
          </p:sp>
        </p:grpSp>
        <p:grpSp>
          <p:nvGrpSpPr>
            <p:cNvPr id="8" name="组合 7" descr="c70d7da2-a184-4559-a660-ec250fdd477b"/>
            <p:cNvGrpSpPr/>
            <p:nvPr/>
          </p:nvGrpSpPr>
          <p:grpSpPr>
            <a:xfrm>
              <a:off x="7397742" y="3172241"/>
              <a:ext cx="4121158" cy="919919"/>
              <a:chOff x="660400" y="3598180"/>
              <a:chExt cx="4515754" cy="1008000"/>
            </a:xfrm>
          </p:grpSpPr>
          <p:sp>
            <p:nvSpPr>
              <p:cNvPr id="15" name="Bullet7" descr="0ed91814-0d34-4606-b5fc-8b3736651818"/>
              <p:cNvSpPr/>
              <p:nvPr/>
            </p:nvSpPr>
            <p:spPr>
              <a:xfrm>
                <a:off x="1199240" y="3731729"/>
                <a:ext cx="3976914" cy="874451"/>
              </a:xfrm>
              <a:prstGeom prst="rect">
                <a:avLst/>
              </a:prstGeom>
              <a:solidFill>
                <a:schemeClr val="accent6">
                  <a:alpha val="15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20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功能验证与结果展示</a:t>
                </a:r>
              </a:p>
            </p:txBody>
          </p:sp>
          <p:sp>
            <p:nvSpPr>
              <p:cNvPr id="16" name="Number7" descr="1383d2a3-0751-406b-b6e8-8b4d354e2edc"/>
              <p:cNvSpPr/>
              <p:nvPr/>
            </p:nvSpPr>
            <p:spPr>
              <a:xfrm>
                <a:off x="660400" y="3598180"/>
                <a:ext cx="1008000" cy="1008000"/>
              </a:xfrm>
              <a:prstGeom prst="snip2Diag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lIns="91440" tIns="45720" rIns="91440" bIns="45720" anchor="ctr" anchorCtr="0"/>
              <a:lstStyle/>
              <a:p>
                <a:pPr algn="ctr"/>
                <a:r>
                  <a:rPr lang="en-US" sz="4000" b="1" i="0" u="none">
                    <a:solidFill>
                      <a:srgbClr val="FFFFFF"/>
                    </a:solidFill>
                    <a:latin typeface="Arial" panose="020B0604020202020204"/>
                  </a:rPr>
                  <a:t>6</a:t>
                </a:r>
              </a:p>
            </p:txBody>
          </p:sp>
        </p:grpSp>
      </p:grpSp>
      <p:sp>
        <p:nvSpPr>
          <p:cNvPr id="6" name="标题 5" descr="986ed6b0-9799-47a5-a099-9370a275831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626AF8"/>
                </a:solidFill>
                <a:ea typeface="微软雅黑" panose="020B0503020204020204" charset="-122"/>
              </a:rPr>
              <a:t>目录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标题 24" descr="7f0ea7ff-6ece-4b88-b112-01279104e764"/>
          <p:cNvSpPr>
            <a:spLocks noGrp="1"/>
          </p:cNvSpPr>
          <p:nvPr>
            <p:ph type="title" sz="quarter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200" b="1" i="0" u="none">
                <a:solidFill>
                  <a:srgbClr val="FFFFFF"/>
                </a:solidFill>
                <a:ea typeface="微软雅黑" panose="020B0503020204020204" charset="-122"/>
              </a:rPr>
              <a:t>实验环境规划与搭建</a:t>
            </a:r>
          </a:p>
        </p:txBody>
      </p:sp>
      <p:sp>
        <p:nvSpPr>
          <p:cNvPr id="5" name="文本占位符 4" descr="b0e1de57-aa6c-49fa-971a-1b7e0077aa68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1600" b="0" i="0" u="none">
                <a:solidFill>
                  <a:srgbClr val="FFFFFF"/>
                </a:solidFill>
                <a:ea typeface="微软雅黑" panose="020B0503020204020204" charset="-122"/>
              </a:rPr>
              <a:t>本章节介绍实验所需的基础设施，包括虚拟机资源规划、网络配置，并为后续实验构建了一个稳定、互通的基础环境。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4eda1e78-9da9-4086-8953-14b97d158819.source.4.zh-Hans.pptx" descr="245721da-10e5-42d9-921f-936b83a32375"/>
          <p:cNvGrpSpPr/>
          <p:nvPr>
            <p:custDataLst>
              <p:tags r:id="rId1"/>
            </p:custDataLst>
          </p:nvPr>
        </p:nvGrpSpPr>
        <p:grpSpPr>
          <a:xfrm>
            <a:off x="660400" y="1130298"/>
            <a:ext cx="10845800" cy="5003802"/>
            <a:chOff x="660400" y="1130298"/>
            <a:chExt cx="10845800" cy="5003802"/>
          </a:xfrm>
        </p:grpSpPr>
        <p:sp>
          <p:nvSpPr>
            <p:cNvPr id="2" name="Title" descr="2c5b293c-99e0-4c2b-8b1a-d5d532b4380e"/>
            <p:cNvSpPr/>
            <p:nvPr/>
          </p:nvSpPr>
          <p:spPr>
            <a:xfrm>
              <a:off x="660400" y="1130298"/>
              <a:ext cx="2474686" cy="4188462"/>
            </a:xfrm>
            <a:prstGeom prst="roundRect">
              <a:avLst>
                <a:gd name="adj" fmla="val 0"/>
              </a:avLst>
            </a:prstGeom>
            <a:noFill/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l"/>
              <a:r>
                <a:rPr lang="en-US" sz="2400" b="1" i="0" u="none">
                  <a:solidFill>
                    <a:srgbClr val="000000"/>
                  </a:solidFill>
                  <a:ea typeface="微软雅黑" panose="020B0503020204020204" charset="-122"/>
                </a:rPr>
                <a:t>简化环境，聚焦核心，采用3台CentOS Stream 9构建最小化实验集群。</a:t>
              </a:r>
            </a:p>
          </p:txBody>
        </p:sp>
        <p:cxnSp>
          <p:nvCxnSpPr>
            <p:cNvPr id="19" name="连接符: 肘形 18" descr="166af0bb-b3f8-4df9-a3d7-f87545e09af0"/>
            <p:cNvCxnSpPr>
              <a:stCxn id="2" idx="3"/>
              <a:endCxn id="13" idx="3"/>
            </p:cNvCxnSpPr>
            <p:nvPr/>
          </p:nvCxnSpPr>
          <p:spPr>
            <a:xfrm>
              <a:off x="3135086" y="3224529"/>
              <a:ext cx="736270" cy="2055018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>
                  <a:alpha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连接符: 肘形 19" descr="569bf075-761f-4db2-94b2-c6d27060594d"/>
            <p:cNvCxnSpPr>
              <a:stCxn id="2" idx="3"/>
              <a:endCxn id="4" idx="3"/>
            </p:cNvCxnSpPr>
            <p:nvPr/>
          </p:nvCxnSpPr>
          <p:spPr>
            <a:xfrm flipV="1">
              <a:off x="3135086" y="1339850"/>
              <a:ext cx="736270" cy="1884679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>
                  <a:alpha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组合 15" descr="a66114a5-4fb8-4459-af95-fb2bb74cfdcb"/>
            <p:cNvGrpSpPr/>
            <p:nvPr/>
          </p:nvGrpSpPr>
          <p:grpSpPr>
            <a:xfrm>
              <a:off x="3871356" y="1130300"/>
              <a:ext cx="7634842" cy="1064103"/>
              <a:chOff x="2738741" y="1354521"/>
              <a:chExt cx="4063996" cy="1064103"/>
            </a:xfrm>
          </p:grpSpPr>
          <p:sp>
            <p:nvSpPr>
              <p:cNvPr id="4" name="Bullet1" descr="ba2b244d-3027-405d-8ad6-2c81e8914f48"/>
              <p:cNvSpPr/>
              <p:nvPr>
                <p:custDataLst>
                  <p:tags r:id="rId8"/>
                </p:custDataLst>
              </p:nvPr>
            </p:nvSpPr>
            <p:spPr>
              <a:xfrm flipH="1">
                <a:off x="2738741" y="1354521"/>
                <a:ext cx="4063993" cy="419100"/>
              </a:xfrm>
              <a:prstGeom prst="roundRect">
                <a:avLst>
                  <a:gd name="adj" fmla="val 9201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 anchorCtr="0">
                <a:normAutofit lnSpcReduction="10000"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控制节点</a:t>
                </a:r>
              </a:p>
            </p:txBody>
          </p:sp>
          <p:sp>
            <p:nvSpPr>
              <p:cNvPr id="5" name="Text1" descr="797685ef-5f35-4585-b160-f48663581683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2738744" y="1863365"/>
                <a:ext cx="4063993" cy="555259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600" b="0" i="0" u="none">
                    <a:solidFill>
                      <a:srgbClr val="000000"/>
                    </a:solidFill>
                    <a:latin typeface="Arial" panose="020B0604020202020204"/>
                  </a:rPr>
                  <a:t>主机名：</a:t>
                </a:r>
                <a:r>
                  <a:rPr lang="en-US" altLang="zh-CN" sz="1600" b="0" i="0" u="none">
                    <a:solidFill>
                      <a:srgbClr val="000000"/>
                    </a:solidFill>
                    <a:latin typeface="Arial" panose="020B0604020202020204"/>
                  </a:rPr>
                  <a:t>Ansible-ctl  </a:t>
                </a:r>
                <a:r>
                  <a:rPr lang="en-US" sz="1600" b="0" i="0" u="none">
                    <a:solidFill>
                      <a:srgbClr val="000000"/>
                    </a:solidFill>
                    <a:latin typeface="Arial" panose="020B0604020202020204"/>
                  </a:rPr>
                  <a:t>IP: 192.168.114.131，Ansible</a:t>
                </a:r>
                <a:r>
                  <a:rPr lang="zh-CN" altLang="en-US" sz="1600" b="0" i="0" u="none">
                    <a:solidFill>
                      <a:srgbClr val="000000"/>
                    </a:solidFill>
                    <a:latin typeface="Arial" panose="020B0604020202020204"/>
                  </a:rPr>
                  <a:t>控制机</a:t>
                </a:r>
              </a:p>
            </p:txBody>
          </p:sp>
        </p:grpSp>
        <p:grpSp>
          <p:nvGrpSpPr>
            <p:cNvPr id="17" name="组合 16" descr="659444d7-1808-4275-9815-24007eadc2c0"/>
            <p:cNvGrpSpPr/>
            <p:nvPr/>
          </p:nvGrpSpPr>
          <p:grpSpPr>
            <a:xfrm>
              <a:off x="3871356" y="2443532"/>
              <a:ext cx="7634842" cy="1064103"/>
              <a:chOff x="2738742" y="4238935"/>
              <a:chExt cx="4063996" cy="1064103"/>
            </a:xfrm>
          </p:grpSpPr>
          <p:sp>
            <p:nvSpPr>
              <p:cNvPr id="7" name="Bullet2" descr="a6298421-e98c-40ed-a14d-aa2b03fedb59"/>
              <p:cNvSpPr/>
              <p:nvPr>
                <p:custDataLst>
                  <p:tags r:id="rId6"/>
                </p:custDataLst>
              </p:nvPr>
            </p:nvSpPr>
            <p:spPr>
              <a:xfrm flipH="1">
                <a:off x="2738742" y="4238935"/>
                <a:ext cx="4063993" cy="419100"/>
              </a:xfrm>
              <a:prstGeom prst="roundRect">
                <a:avLst>
                  <a:gd name="adj" fmla="val 7957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 anchorCtr="0">
                <a:normAutofit lnSpcReduction="10000"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被管节点1</a:t>
                </a:r>
              </a:p>
            </p:txBody>
          </p:sp>
          <p:sp>
            <p:nvSpPr>
              <p:cNvPr id="8" name="Text2" descr="17051d3c-a722-4e03-b51a-2d0b8ff7b334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2738745" y="4747779"/>
                <a:ext cx="4063993" cy="555259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600" b="0" i="0" u="none">
                    <a:solidFill>
                      <a:srgbClr val="000000"/>
                    </a:solidFill>
                    <a:latin typeface="Arial" panose="020B0604020202020204"/>
                  </a:rPr>
                  <a:t>主机名：</a:t>
                </a:r>
                <a:r>
                  <a:rPr lang="en-US" altLang="zh-CN" sz="1600" b="0" i="0" u="none">
                    <a:solidFill>
                      <a:srgbClr val="000000"/>
                    </a:solidFill>
                    <a:latin typeface="Arial" panose="020B0604020202020204"/>
                  </a:rPr>
                  <a:t>node1 </a:t>
                </a:r>
                <a:r>
                  <a:rPr lang="en-US" sz="1600" b="0" i="0" u="none">
                    <a:solidFill>
                      <a:srgbClr val="000000"/>
                    </a:solidFill>
                    <a:latin typeface="Arial" panose="020B0604020202020204"/>
                  </a:rPr>
                  <a:t>IP: 192.168.114.132，</a:t>
                </a:r>
                <a:r>
                  <a:rPr lang="zh-CN" altLang="en-US" sz="1600" b="0" i="0" u="none">
                    <a:solidFill>
                      <a:srgbClr val="000000"/>
                    </a:solidFill>
                    <a:latin typeface="Arial" panose="020B0604020202020204"/>
                  </a:rPr>
                  <a:t>被管节点</a:t>
                </a:r>
                <a:r>
                  <a:rPr lang="en-US" altLang="zh-CN" sz="1600" b="0" i="0" u="none">
                    <a:solidFill>
                      <a:srgbClr val="000000"/>
                    </a:solidFill>
                    <a:latin typeface="Arial" panose="020B0604020202020204"/>
                  </a:rPr>
                  <a:t>1</a:t>
                </a:r>
              </a:p>
            </p:txBody>
          </p:sp>
        </p:grpSp>
        <p:grpSp>
          <p:nvGrpSpPr>
            <p:cNvPr id="24" name="组合 23" descr="6267eb89-f982-4982-8701-85f779986ff0"/>
            <p:cNvGrpSpPr/>
            <p:nvPr/>
          </p:nvGrpSpPr>
          <p:grpSpPr>
            <a:xfrm>
              <a:off x="3871356" y="3756764"/>
              <a:ext cx="7634842" cy="1064103"/>
              <a:chOff x="7467604" y="1366710"/>
              <a:chExt cx="4063996" cy="1064103"/>
            </a:xfrm>
          </p:grpSpPr>
          <p:sp>
            <p:nvSpPr>
              <p:cNvPr id="10" name="Bullet3" descr="9b8b9ee5-9f84-4d67-868e-5d0fbf453066"/>
              <p:cNvSpPr/>
              <p:nvPr>
                <p:custDataLst>
                  <p:tags r:id="rId4"/>
                </p:custDataLst>
              </p:nvPr>
            </p:nvSpPr>
            <p:spPr>
              <a:xfrm flipH="1">
                <a:off x="7467604" y="1366710"/>
                <a:ext cx="4063993" cy="419100"/>
              </a:xfrm>
              <a:prstGeom prst="roundRect">
                <a:avLst>
                  <a:gd name="adj" fmla="val 9267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 anchorCtr="0">
                <a:normAutofit lnSpcReduction="10000"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被管节点2</a:t>
                </a:r>
              </a:p>
            </p:txBody>
          </p:sp>
          <p:sp>
            <p:nvSpPr>
              <p:cNvPr id="11" name="Text3" descr="793ebf38-d3ff-4b8f-b9f0-eb699ea592e6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7467607" y="1875554"/>
                <a:ext cx="4063993" cy="555259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600" b="0" i="0" u="none">
                    <a:solidFill>
                      <a:srgbClr val="000000"/>
                    </a:solidFill>
                    <a:latin typeface="Arial" panose="020B0604020202020204"/>
                  </a:rPr>
                  <a:t>主机名：</a:t>
                </a:r>
                <a:r>
                  <a:rPr lang="en-US" altLang="zh-CN" sz="1600" b="0" i="0" u="none">
                    <a:solidFill>
                      <a:srgbClr val="000000"/>
                    </a:solidFill>
                    <a:latin typeface="Arial" panose="020B0604020202020204"/>
                  </a:rPr>
                  <a:t>node2 IP: 192.168.114.133</a:t>
                </a:r>
                <a:r>
                  <a:rPr lang="zh-CN" altLang="en-US" sz="1600" b="0" i="0" u="none">
                    <a:solidFill>
                      <a:srgbClr val="000000"/>
                    </a:solidFill>
                    <a:latin typeface="Arial" panose="020B0604020202020204"/>
                  </a:rPr>
                  <a:t>，被管节点</a:t>
                </a:r>
                <a:r>
                  <a:rPr lang="en-US" altLang="zh-CN" sz="1600" b="0" i="0" u="none">
                    <a:solidFill>
                      <a:srgbClr val="000000"/>
                    </a:solidFill>
                    <a:latin typeface="Arial" panose="020B0604020202020204"/>
                  </a:rPr>
                  <a:t>2</a:t>
                </a:r>
              </a:p>
            </p:txBody>
          </p:sp>
        </p:grpSp>
        <p:grpSp>
          <p:nvGrpSpPr>
            <p:cNvPr id="25" name="组合 24" descr="dcaac9d8-4530-4efb-b427-f6900599b311"/>
            <p:cNvGrpSpPr/>
            <p:nvPr/>
          </p:nvGrpSpPr>
          <p:grpSpPr>
            <a:xfrm>
              <a:off x="3871356" y="5069997"/>
              <a:ext cx="7634844" cy="1064103"/>
              <a:chOff x="7454903" y="4240925"/>
              <a:chExt cx="4063997" cy="1064103"/>
            </a:xfrm>
          </p:grpSpPr>
          <p:sp>
            <p:nvSpPr>
              <p:cNvPr id="13" name="Bullet4" descr="5bf61415-28a0-4bb5-80f4-ca09ee73472b"/>
              <p:cNvSpPr/>
              <p:nvPr>
                <p:custDataLst>
                  <p:tags r:id="rId2"/>
                </p:custDataLst>
              </p:nvPr>
            </p:nvSpPr>
            <p:spPr>
              <a:xfrm flipH="1">
                <a:off x="7454903" y="4240925"/>
                <a:ext cx="4063993" cy="419100"/>
              </a:xfrm>
              <a:prstGeom prst="roundRect">
                <a:avLst>
                  <a:gd name="adj" fmla="val 8705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 anchorCtr="0">
                <a:normAutofit lnSpcReduction="10000"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网络模式</a:t>
                </a:r>
              </a:p>
            </p:txBody>
          </p:sp>
          <p:sp>
            <p:nvSpPr>
              <p:cNvPr id="14" name="Text4" descr="48ba432b-141e-42a7-a07b-2fa1c2b7dbdf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7454907" y="4749769"/>
                <a:ext cx="4063993" cy="555259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wrap="square" rtlCol="0" anchor="t" anchorCtr="0">
                <a:no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6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统一采用NAT模式，确保所有虚拟机均可</a:t>
                </a:r>
                <a:r>
                  <a:rPr lang="zh-CN" altLang="en-US" sz="16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互访且可</a:t>
                </a:r>
                <a:r>
                  <a:rPr lang="en-US" sz="16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访问外部网络，便于安装软件包和拉取镜像。</a:t>
                </a:r>
              </a:p>
            </p:txBody>
          </p:sp>
        </p:grpSp>
        <p:cxnSp>
          <p:nvCxnSpPr>
            <p:cNvPr id="37" name="连接符: 肘形 36" descr="b9adb059-c13e-4903-b818-64119b67ba16"/>
            <p:cNvCxnSpPr>
              <a:stCxn id="2" idx="3"/>
              <a:endCxn id="7" idx="3"/>
            </p:cNvCxnSpPr>
            <p:nvPr/>
          </p:nvCxnSpPr>
          <p:spPr>
            <a:xfrm flipV="1">
              <a:off x="3135086" y="2653082"/>
              <a:ext cx="736270" cy="571447"/>
            </a:xfrm>
            <a:prstGeom prst="bentConnector3">
              <a:avLst/>
            </a:prstGeom>
            <a:ln w="6350">
              <a:solidFill>
                <a:schemeClr val="tx1">
                  <a:alpha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连接符: 肘形 37" descr="ec254e11-a556-4cd6-bd46-e30ff6bf8e65"/>
            <p:cNvCxnSpPr>
              <a:stCxn id="2" idx="3"/>
              <a:endCxn id="10" idx="3"/>
            </p:cNvCxnSpPr>
            <p:nvPr/>
          </p:nvCxnSpPr>
          <p:spPr>
            <a:xfrm>
              <a:off x="3135086" y="3224529"/>
              <a:ext cx="736270" cy="741785"/>
            </a:xfrm>
            <a:prstGeom prst="bentConnector3">
              <a:avLst/>
            </a:prstGeom>
            <a:ln w="6350">
              <a:solidFill>
                <a:schemeClr val="tx1">
                  <a:alpha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标题 5" descr="986ed6b0-9799-47a5-a099-9370a275831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626AF8"/>
                </a:solidFill>
                <a:ea typeface="微软雅黑" panose="020B0503020204020204" charset="-122"/>
              </a:rPr>
              <a:t>虚拟机规划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f3a6d23e-f17e-4b19-9ad2-04b4a318ed61.source.3.zh-Hans.pptx" descr="36f49cbf-7056-4ca2-93d5-d1a11475d0bd"/>
          <p:cNvGrpSpPr/>
          <p:nvPr>
            <p:custDataLst>
              <p:tags r:id="rId1"/>
            </p:custDataLst>
          </p:nvPr>
        </p:nvGrpSpPr>
        <p:grpSpPr>
          <a:xfrm>
            <a:off x="0" y="1130301"/>
            <a:ext cx="12192000" cy="6726219"/>
            <a:chOff x="0" y="1130301"/>
            <a:chExt cx="12192000" cy="6726219"/>
          </a:xfrm>
        </p:grpSpPr>
        <p:sp>
          <p:nvSpPr>
            <p:cNvPr id="8" name="PictureMisc1" descr="b5ba31a1-0c0f-4757-81c9-31d4a970ebb0"/>
            <p:cNvSpPr/>
            <p:nvPr/>
          </p:nvSpPr>
          <p:spPr>
            <a:xfrm>
              <a:off x="0" y="5562667"/>
              <a:ext cx="12192000" cy="1295333"/>
            </a:xfrm>
            <a:prstGeom prst="rect">
              <a:avLst/>
            </a:prstGeom>
            <a:blipFill rotWithShape="1">
              <a:blip r:embed="rId13"/>
              <a:srcRect/>
              <a:stretch>
                <a:fillRect t="-8697" b="-418803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/>
            </a:p>
          </p:txBody>
        </p:sp>
        <p:sp>
          <p:nvSpPr>
            <p:cNvPr id="9" name="c" descr="27a94f48-4908-49ba-943e-9a235da7f91f"/>
            <p:cNvSpPr/>
            <p:nvPr>
              <p:custDataLst>
                <p:tags r:id="rId2"/>
              </p:custDataLst>
            </p:nvPr>
          </p:nvSpPr>
          <p:spPr>
            <a:xfrm>
              <a:off x="660400" y="1777366"/>
              <a:ext cx="10858500" cy="4608830"/>
            </a:xfrm>
            <a:prstGeom prst="roundRect">
              <a:avLst>
                <a:gd name="adj" fmla="val 3015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alpha val="90000"/>
                  </a:schemeClr>
                </a:gs>
              </a:gsLst>
              <a:lin ang="5400000" scaled="1"/>
              <a:tileRect/>
            </a:gradFill>
            <a:ln w="6350">
              <a:gradFill flip="none" rotWithShape="1">
                <a:gsLst>
                  <a:gs pos="0">
                    <a:schemeClr val="tx1">
                      <a:alpha val="50000"/>
                    </a:schemeClr>
                  </a:gs>
                  <a:gs pos="100000">
                    <a:schemeClr val="tx1">
                      <a:alpha val="0"/>
                    </a:schemeClr>
                  </a:gs>
                </a:gsLst>
                <a:lin ang="5400000" scaled="1"/>
                <a:tileRect/>
              </a:gra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 anchorCtr="0">
              <a:normAutofit/>
            </a:bodyPr>
            <a:lstStyle/>
            <a:p>
              <a:pPr algn="ctr">
                <a:lnSpc>
                  <a:spcPct val="120000"/>
                </a:lnSpc>
              </a:pPr>
              <a:endParaRPr/>
            </a:p>
          </p:txBody>
        </p:sp>
        <p:sp>
          <p:nvSpPr>
            <p:cNvPr id="10" name="Title" descr="c8a9289f-5edb-4fcf-be62-a0c67942e97a"/>
            <p:cNvSpPr/>
            <p:nvPr/>
          </p:nvSpPr>
          <p:spPr>
            <a:xfrm>
              <a:off x="660399" y="1130301"/>
              <a:ext cx="10858500" cy="586098"/>
            </a:xfrm>
            <a:prstGeom prst="rect">
              <a:avLst/>
            </a:prstGeom>
            <a:noFill/>
            <a:ln w="762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 anchorCtr="0">
              <a:normAutofit fontScale="92500"/>
            </a:bodyPr>
            <a:lstStyle/>
            <a:p>
              <a:pPr algn="l"/>
              <a:r>
                <a:rPr lang="en-US" sz="2400" b="1" i="0" u="none">
                  <a:solidFill>
                    <a:srgbClr val="000000"/>
                  </a:solidFill>
                  <a:ea typeface="微软雅黑" panose="020B0503020204020204" charset="-122"/>
                </a:rPr>
                <a:t>通过ping命令测试网络互通性，确保Ansible控制机能无障碍访问所有被管节点。</a:t>
              </a:r>
            </a:p>
          </p:txBody>
        </p:sp>
        <p:grpSp>
          <p:nvGrpSpPr>
            <p:cNvPr id="37" name="组合 36" descr="fd55ba25-8397-4240-9285-a19f2d4f2d1e"/>
            <p:cNvGrpSpPr/>
            <p:nvPr/>
          </p:nvGrpSpPr>
          <p:grpSpPr>
            <a:xfrm>
              <a:off x="885625" y="1931699"/>
              <a:ext cx="5038520" cy="1822378"/>
              <a:chOff x="885625" y="1931699"/>
              <a:chExt cx="5038520" cy="1822378"/>
            </a:xfrm>
          </p:grpSpPr>
          <p:sp>
            <p:nvSpPr>
              <p:cNvPr id="34" name="Number1" descr="07afbc34-0cf4-4645-90c3-4b4dedbfed61"/>
              <p:cNvSpPr/>
              <p:nvPr>
                <p:custDataLst>
                  <p:tags r:id="rId9"/>
                </p:custDataLst>
              </p:nvPr>
            </p:nvSpPr>
            <p:spPr>
              <a:xfrm flipH="1">
                <a:off x="885625" y="1931699"/>
                <a:ext cx="472502" cy="472662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/>
              </a:bodyPr>
              <a:lstStyle/>
              <a:p>
                <a:pPr algn="ctr"/>
                <a:r>
                  <a:rPr lang="en-US" sz="1200" b="1" i="0" u="none">
                    <a:solidFill>
                      <a:srgbClr val="626AF8"/>
                    </a:solidFill>
                    <a:latin typeface="Arial" panose="020B0604020202020204"/>
                  </a:rPr>
                  <a:t>1</a:t>
                </a:r>
              </a:p>
            </p:txBody>
          </p:sp>
          <p:sp>
            <p:nvSpPr>
              <p:cNvPr id="35" name="Bullet1" descr="79375e0c-a482-4e12-8374-fae2a389e3f8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1383527" y="1931699"/>
                <a:ext cx="454061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控制机ping节点1</a:t>
                </a:r>
              </a:p>
            </p:txBody>
          </p:sp>
          <p:sp>
            <p:nvSpPr>
              <p:cNvPr id="36" name="Text1" descr="cffa9084-c7e2-4614-a604-dc7906e9bf8d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1383527" y="2404361"/>
                <a:ext cx="4540618" cy="13497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000000"/>
                    </a:solidFill>
                    <a:ea typeface="微软雅黑" panose="020B0503020204020204" charset="-122"/>
                  </a:rPr>
                  <a:t>执行`ping 192.168.114.132`，结果显示丢包率为0，往返延迟正常，证明网络通畅。</a:t>
                </a:r>
              </a:p>
            </p:txBody>
          </p:sp>
        </p:grpSp>
        <p:grpSp>
          <p:nvGrpSpPr>
            <p:cNvPr id="38" name="组合 37" descr="ecc9ad7e-0a57-4e00-983e-f3f8941e1f83"/>
            <p:cNvGrpSpPr/>
            <p:nvPr/>
          </p:nvGrpSpPr>
          <p:grpSpPr>
            <a:xfrm>
              <a:off x="911025" y="3306817"/>
              <a:ext cx="4987720" cy="2038913"/>
              <a:chOff x="911025" y="3306817"/>
              <a:chExt cx="4987720" cy="2038913"/>
            </a:xfrm>
          </p:grpSpPr>
          <p:sp>
            <p:nvSpPr>
              <p:cNvPr id="27" name="Number2" descr="32f842ae-f94b-4bd5-b67e-bf18c4875598"/>
              <p:cNvSpPr/>
              <p:nvPr>
                <p:custDataLst>
                  <p:tags r:id="rId6"/>
                </p:custDataLst>
              </p:nvPr>
            </p:nvSpPr>
            <p:spPr>
              <a:xfrm flipH="1">
                <a:off x="911025" y="3306817"/>
                <a:ext cx="472502" cy="472662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/>
              </a:bodyPr>
              <a:lstStyle/>
              <a:p>
                <a:pPr algn="ctr"/>
                <a:r>
                  <a:rPr lang="en-US" sz="1200" b="1" i="0" u="none">
                    <a:solidFill>
                      <a:srgbClr val="626AF8"/>
                    </a:solidFill>
                    <a:latin typeface="Arial" panose="020B0604020202020204"/>
                  </a:rPr>
                  <a:t>2</a:t>
                </a:r>
              </a:p>
            </p:txBody>
          </p:sp>
          <p:sp>
            <p:nvSpPr>
              <p:cNvPr id="28" name="Bullet2" descr="6d64d2b8-b6f4-4d05-a979-64ce62ade2b4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1358127" y="3402702"/>
                <a:ext cx="454061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控制机ping节点2</a:t>
                </a:r>
              </a:p>
            </p:txBody>
          </p:sp>
          <p:sp>
            <p:nvSpPr>
              <p:cNvPr id="29" name="Text2" descr="063f33fe-ac01-49a5-bc9d-6ffed31906fd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357492" y="3996014"/>
                <a:ext cx="4540618" cy="13497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000000"/>
                    </a:solidFill>
                    <a:ea typeface="微软雅黑" panose="020B0503020204020204" charset="-122"/>
                  </a:rPr>
                  <a:t>执行`ping 192.168.114.133`，得到相同结果，确认控制机与被管节点2之间网络连接正常。</a:t>
                </a:r>
              </a:p>
            </p:txBody>
          </p:sp>
        </p:grpSp>
        <p:grpSp>
          <p:nvGrpSpPr>
            <p:cNvPr id="39" name="组合 38" descr="751f78e8-9043-4dfa-be45-2385d2eb38a4"/>
            <p:cNvGrpSpPr/>
            <p:nvPr/>
          </p:nvGrpSpPr>
          <p:grpSpPr>
            <a:xfrm>
              <a:off x="911313" y="4874523"/>
              <a:ext cx="5131865" cy="2981997"/>
              <a:chOff x="911313" y="4874523"/>
              <a:chExt cx="5131865" cy="2981997"/>
            </a:xfrm>
          </p:grpSpPr>
          <p:sp>
            <p:nvSpPr>
              <p:cNvPr id="24" name="Number3" descr="9e15b6b8-890d-49aa-82b7-f8c0df0d073c"/>
              <p:cNvSpPr/>
              <p:nvPr>
                <p:custDataLst>
                  <p:tags r:id="rId3"/>
                </p:custDataLst>
              </p:nvPr>
            </p:nvSpPr>
            <p:spPr>
              <a:xfrm flipH="1">
                <a:off x="911313" y="4874523"/>
                <a:ext cx="472502" cy="472662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/>
              </a:bodyPr>
              <a:lstStyle/>
              <a:p>
                <a:pPr algn="ctr"/>
                <a:r>
                  <a:rPr lang="en-US" sz="1200" b="1" i="0" u="none">
                    <a:solidFill>
                      <a:srgbClr val="626AF8"/>
                    </a:solidFill>
                    <a:latin typeface="Arial" panose="020B0604020202020204"/>
                  </a:rPr>
                  <a:t>3</a:t>
                </a:r>
              </a:p>
            </p:txBody>
          </p:sp>
          <p:sp>
            <p:nvSpPr>
              <p:cNvPr id="25" name="Bullet3" descr="e4468241-d2fd-4d33-b6b6-375582a0350a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502560" y="4874523"/>
                <a:ext cx="454061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节点间互ping</a:t>
                </a:r>
              </a:p>
            </p:txBody>
          </p:sp>
          <p:sp>
            <p:nvSpPr>
              <p:cNvPr id="26" name="Text3" descr="fb5982ab-b12b-4bf8-bae6-8d5523d2f9f1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502560" y="5347185"/>
                <a:ext cx="4540618" cy="25093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000000"/>
                    </a:solidFill>
                    <a:ea typeface="微软雅黑" panose="020B0503020204020204" charset="-122"/>
                  </a:rPr>
                  <a:t>在节点1和节点2上分别执行`ping 对方IP`，均成功通信，验证了整个集群的网络健康状态。</a:t>
                </a:r>
              </a:p>
            </p:txBody>
          </p:sp>
        </p:grpSp>
      </p:grpSp>
      <p:sp>
        <p:nvSpPr>
          <p:cNvPr id="6" name="标题 5" descr="986ed6b0-9799-47a5-a099-9370a275831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626AF8"/>
                </a:solidFill>
                <a:ea typeface="微软雅黑" panose="020B0503020204020204" charset="-122"/>
              </a:rPr>
              <a:t>网络配置验证</a:t>
            </a:r>
          </a:p>
        </p:txBody>
      </p:sp>
      <p:pic>
        <p:nvPicPr>
          <p:cNvPr id="3" name="图片 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63995" y="1781810"/>
            <a:ext cx="4534535" cy="460438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标题 24" descr="7f0ea7ff-6ece-4b88-b112-01279104e764"/>
          <p:cNvSpPr>
            <a:spLocks noGrp="1"/>
          </p:cNvSpPr>
          <p:nvPr>
            <p:ph type="title" sz="quarter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200" b="1" i="0" u="none">
                <a:solidFill>
                  <a:srgbClr val="FFFFFF"/>
                </a:solidFill>
                <a:latin typeface="Arial" panose="020B0604020202020204"/>
              </a:rPr>
              <a:t>Ansible自动化基础配置</a:t>
            </a:r>
          </a:p>
        </p:txBody>
      </p:sp>
      <p:sp>
        <p:nvSpPr>
          <p:cNvPr id="5" name="文本占位符 4" descr="b0e1de57-aa6c-49fa-971a-1b7e0077aa68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1600" b="0" i="0" u="none">
                <a:solidFill>
                  <a:srgbClr val="FFFFFF"/>
                </a:solidFill>
                <a:ea typeface="微软雅黑" panose="020B0503020204020204" charset="-122"/>
              </a:rPr>
              <a:t>本章节围绕Ansible自动化工具的核心基础进行配置，涵盖安装、认证、清单定义及连通性测试，为后续的自动化任务执行奠定坚实基础。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40032ed-c9ba-499e-9282-43a3603c0f61.source.2.zh-Hans.pptx" descr="2556c8f7-5cfc-4af3-a54c-51a943f1d5db"/>
          <p:cNvGrpSpPr/>
          <p:nvPr/>
        </p:nvGrpSpPr>
        <p:grpSpPr>
          <a:xfrm>
            <a:off x="656108" y="-408305"/>
            <a:ext cx="9826472" cy="6542406"/>
            <a:chOff x="656108" y="-408305"/>
            <a:chExt cx="9826472" cy="6542406"/>
          </a:xfrm>
        </p:grpSpPr>
        <p:sp>
          <p:nvSpPr>
            <p:cNvPr id="3" name="PictureMisc1" descr="2c71c33b-67d2-4999-bf88-8187f95f17f0"/>
            <p:cNvSpPr/>
            <p:nvPr/>
          </p:nvSpPr>
          <p:spPr>
            <a:xfrm>
              <a:off x="656108" y="1130300"/>
              <a:ext cx="2260882" cy="5003800"/>
            </a:xfrm>
            <a:prstGeom prst="roundRect">
              <a:avLst>
                <a:gd name="adj" fmla="val 5343"/>
              </a:avLst>
            </a:prstGeom>
            <a:blipFill rotWithShape="1">
              <a:blip r:embed="rId2"/>
              <a:stretch>
                <a:fillRect l="-144488" r="-142874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/>
            </a:p>
          </p:txBody>
        </p:sp>
        <p:sp>
          <p:nvSpPr>
            <p:cNvPr id="4" name="Title" descr="25a05801-c1a4-4045-8810-cb74d38706b1"/>
            <p:cNvSpPr txBox="1"/>
            <p:nvPr/>
          </p:nvSpPr>
          <p:spPr>
            <a:xfrm>
              <a:off x="660400" y="2665600"/>
              <a:ext cx="2256589" cy="1933200"/>
            </a:xfrm>
            <a:prstGeom prst="rect">
              <a:avLst/>
            </a:prstGeom>
            <a:solidFill>
              <a:srgbClr val="FFFFFF">
                <a:alpha val="90000"/>
              </a:srgbClr>
            </a:solidFill>
          </p:spPr>
          <p:txBody>
            <a:bodyPr wrap="square" rtlCol="0" anchor="ctr" anchorCtr="0">
              <a:normAutofit fontScale="92500" lnSpcReduction="10000"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rgbClr val="FFFFFF"/>
                  </a:solidFill>
                </a:defRPr>
              </a:lvl1pPr>
            </a:lstStyle>
            <a:p>
              <a:pPr algn="l"/>
              <a:r>
                <a:rPr lang="en-US" sz="2400" b="1" i="0" u="none">
                  <a:solidFill>
                    <a:srgbClr val="000000"/>
                  </a:solidFill>
                  <a:ea typeface="微软雅黑" panose="020B0503020204020204" charset="-122"/>
                </a:rPr>
                <a:t>在控制节点上完成Ansible的安装，并配置SSH免密登录，实现无密码批量管理。</a:t>
              </a:r>
            </a:p>
          </p:txBody>
        </p:sp>
        <p:grpSp>
          <p:nvGrpSpPr>
            <p:cNvPr id="5" name="组合 4" descr="15500a24-a9e1-4b3f-877e-c2e3f1ce602c"/>
            <p:cNvGrpSpPr/>
            <p:nvPr/>
          </p:nvGrpSpPr>
          <p:grpSpPr>
            <a:xfrm>
              <a:off x="3299556" y="-408305"/>
              <a:ext cx="7104284" cy="4334891"/>
              <a:chOff x="3299556" y="-408305"/>
              <a:chExt cx="7104284" cy="4334891"/>
            </a:xfrm>
          </p:grpSpPr>
          <p:sp>
            <p:nvSpPr>
              <p:cNvPr id="14" name="IconBackground" descr="28b92116-fb9c-4328-adcd-52527cf620c4"/>
              <p:cNvSpPr/>
              <p:nvPr/>
            </p:nvSpPr>
            <p:spPr>
              <a:xfrm>
                <a:off x="3299556" y="3337814"/>
                <a:ext cx="588772" cy="58877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/>
              </a:p>
            </p:txBody>
          </p:sp>
          <p:sp>
            <p:nvSpPr>
              <p:cNvPr id="15" name="IconMisc" descr="c7c9cb9c-790a-45b0-b0d5-715c43d371c5"/>
              <p:cNvSpPr/>
              <p:nvPr/>
            </p:nvSpPr>
            <p:spPr>
              <a:xfrm>
                <a:off x="3424073" y="3455374"/>
                <a:ext cx="339739" cy="353653"/>
              </a:xfrm>
              <a:custGeom>
                <a:avLst/>
                <a:gdLst>
                  <a:gd name="T0" fmla="*/ 6303 w 10375"/>
                  <a:gd name="T1" fmla="*/ 6456 h 10799"/>
                  <a:gd name="T2" fmla="*/ 5187 w 10375"/>
                  <a:gd name="T3" fmla="*/ 8946 h 10799"/>
                  <a:gd name="T4" fmla="*/ 5748 w 10375"/>
                  <a:gd name="T5" fmla="*/ 10799 h 10799"/>
                  <a:gd name="T6" fmla="*/ 370 w 10375"/>
                  <a:gd name="T7" fmla="*/ 10799 h 10799"/>
                  <a:gd name="T8" fmla="*/ 0 w 10375"/>
                  <a:gd name="T9" fmla="*/ 10429 h 10799"/>
                  <a:gd name="T10" fmla="*/ 0 w 10375"/>
                  <a:gd name="T11" fmla="*/ 9318 h 10799"/>
                  <a:gd name="T12" fmla="*/ 5187 w 10375"/>
                  <a:gd name="T13" fmla="*/ 6353 h 10799"/>
                  <a:gd name="T14" fmla="*/ 6303 w 10375"/>
                  <a:gd name="T15" fmla="*/ 6456 h 10799"/>
                  <a:gd name="T16" fmla="*/ 5187 w 10375"/>
                  <a:gd name="T17" fmla="*/ 5611 h 10799"/>
                  <a:gd name="T18" fmla="*/ 2593 w 10375"/>
                  <a:gd name="T19" fmla="*/ 3019 h 10799"/>
                  <a:gd name="T20" fmla="*/ 2593 w 10375"/>
                  <a:gd name="T21" fmla="*/ 3017 h 10799"/>
                  <a:gd name="T22" fmla="*/ 4361 w 10375"/>
                  <a:gd name="T23" fmla="*/ 551 h 10799"/>
                  <a:gd name="T24" fmla="*/ 7781 w 10375"/>
                  <a:gd name="T25" fmla="*/ 3017 h 10799"/>
                  <a:gd name="T26" fmla="*/ 5187 w 10375"/>
                  <a:gd name="T27" fmla="*/ 5611 h 10799"/>
                  <a:gd name="T28" fmla="*/ 9830 w 10375"/>
                  <a:gd name="T29" fmla="*/ 8021 h 10799"/>
                  <a:gd name="T30" fmla="*/ 10375 w 10375"/>
                  <a:gd name="T31" fmla="*/ 8566 h 10799"/>
                  <a:gd name="T32" fmla="*/ 10375 w 10375"/>
                  <a:gd name="T33" fmla="*/ 8589 h 10799"/>
                  <a:gd name="T34" fmla="*/ 9830 w 10375"/>
                  <a:gd name="T35" fmla="*/ 9134 h 10799"/>
                  <a:gd name="T36" fmla="*/ 8707 w 10375"/>
                  <a:gd name="T37" fmla="*/ 9134 h 10799"/>
                  <a:gd name="T38" fmla="*/ 8707 w 10375"/>
                  <a:gd name="T39" fmla="*/ 10252 h 10799"/>
                  <a:gd name="T40" fmla="*/ 8162 w 10375"/>
                  <a:gd name="T41" fmla="*/ 10798 h 10799"/>
                  <a:gd name="T42" fmla="*/ 8143 w 10375"/>
                  <a:gd name="T43" fmla="*/ 10798 h 10799"/>
                  <a:gd name="T44" fmla="*/ 7596 w 10375"/>
                  <a:gd name="T45" fmla="*/ 10252 h 10799"/>
                  <a:gd name="T46" fmla="*/ 7596 w 10375"/>
                  <a:gd name="T47" fmla="*/ 9134 h 10799"/>
                  <a:gd name="T48" fmla="*/ 6478 w 10375"/>
                  <a:gd name="T49" fmla="*/ 9134 h 10799"/>
                  <a:gd name="T50" fmla="*/ 5928 w 10375"/>
                  <a:gd name="T51" fmla="*/ 8586 h 10799"/>
                  <a:gd name="T52" fmla="*/ 5928 w 10375"/>
                  <a:gd name="T53" fmla="*/ 8568 h 10799"/>
                  <a:gd name="T54" fmla="*/ 6478 w 10375"/>
                  <a:gd name="T55" fmla="*/ 8023 h 10799"/>
                  <a:gd name="T56" fmla="*/ 7596 w 10375"/>
                  <a:gd name="T57" fmla="*/ 8023 h 10799"/>
                  <a:gd name="T58" fmla="*/ 7596 w 10375"/>
                  <a:gd name="T59" fmla="*/ 6897 h 10799"/>
                  <a:gd name="T60" fmla="*/ 8146 w 10375"/>
                  <a:gd name="T61" fmla="*/ 6352 h 10799"/>
                  <a:gd name="T62" fmla="*/ 8163 w 10375"/>
                  <a:gd name="T63" fmla="*/ 6352 h 10799"/>
                  <a:gd name="T64" fmla="*/ 8708 w 10375"/>
                  <a:gd name="T65" fmla="*/ 6897 h 10799"/>
                  <a:gd name="T66" fmla="*/ 8708 w 10375"/>
                  <a:gd name="T67" fmla="*/ 8023 h 10799"/>
                  <a:gd name="T68" fmla="*/ 9830 w 10375"/>
                  <a:gd name="T69" fmla="*/ 8023 h 10799"/>
                  <a:gd name="T70" fmla="*/ 9830 w 10375"/>
                  <a:gd name="T71" fmla="*/ 8021 h 107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0375" h="10799">
                    <a:moveTo>
                      <a:pt x="6303" y="6456"/>
                    </a:moveTo>
                    <a:cubicBezTo>
                      <a:pt x="5592" y="7089"/>
                      <a:pt x="5186" y="7995"/>
                      <a:pt x="5187" y="8946"/>
                    </a:cubicBezTo>
                    <a:cubicBezTo>
                      <a:pt x="5187" y="9631"/>
                      <a:pt x="5393" y="10269"/>
                      <a:pt x="5748" y="10799"/>
                    </a:cubicBezTo>
                    <a:lnTo>
                      <a:pt x="370" y="10799"/>
                    </a:lnTo>
                    <a:cubicBezTo>
                      <a:pt x="164" y="10799"/>
                      <a:pt x="0" y="10633"/>
                      <a:pt x="0" y="10429"/>
                    </a:cubicBezTo>
                    <a:lnTo>
                      <a:pt x="0" y="9318"/>
                    </a:lnTo>
                    <a:cubicBezTo>
                      <a:pt x="0" y="7345"/>
                      <a:pt x="3456" y="6353"/>
                      <a:pt x="5187" y="6353"/>
                    </a:cubicBezTo>
                    <a:cubicBezTo>
                      <a:pt x="5511" y="6353"/>
                      <a:pt x="5893" y="6386"/>
                      <a:pt x="6303" y="6456"/>
                    </a:cubicBezTo>
                    <a:close/>
                    <a:moveTo>
                      <a:pt x="5187" y="5611"/>
                    </a:moveTo>
                    <a:cubicBezTo>
                      <a:pt x="3755" y="5611"/>
                      <a:pt x="2593" y="4451"/>
                      <a:pt x="2593" y="3019"/>
                    </a:cubicBezTo>
                    <a:lnTo>
                      <a:pt x="2593" y="3017"/>
                    </a:lnTo>
                    <a:cubicBezTo>
                      <a:pt x="2593" y="1901"/>
                      <a:pt x="3295" y="880"/>
                      <a:pt x="4361" y="551"/>
                    </a:cubicBezTo>
                    <a:cubicBezTo>
                      <a:pt x="6146" y="0"/>
                      <a:pt x="7781" y="1316"/>
                      <a:pt x="7781" y="3017"/>
                    </a:cubicBezTo>
                    <a:cubicBezTo>
                      <a:pt x="7781" y="4450"/>
                      <a:pt x="6621" y="5611"/>
                      <a:pt x="5187" y="5611"/>
                    </a:cubicBezTo>
                    <a:close/>
                    <a:moveTo>
                      <a:pt x="9830" y="8021"/>
                    </a:moveTo>
                    <a:cubicBezTo>
                      <a:pt x="10130" y="8021"/>
                      <a:pt x="10375" y="8266"/>
                      <a:pt x="10375" y="8566"/>
                    </a:cubicBezTo>
                    <a:lnTo>
                      <a:pt x="10375" y="8589"/>
                    </a:lnTo>
                    <a:cubicBezTo>
                      <a:pt x="10375" y="8889"/>
                      <a:pt x="10130" y="9134"/>
                      <a:pt x="9830" y="9134"/>
                    </a:cubicBezTo>
                    <a:lnTo>
                      <a:pt x="8707" y="9134"/>
                    </a:lnTo>
                    <a:lnTo>
                      <a:pt x="8707" y="10252"/>
                    </a:lnTo>
                    <a:cubicBezTo>
                      <a:pt x="8707" y="10552"/>
                      <a:pt x="8462" y="10798"/>
                      <a:pt x="8162" y="10798"/>
                    </a:cubicBezTo>
                    <a:lnTo>
                      <a:pt x="8143" y="10798"/>
                    </a:lnTo>
                    <a:cubicBezTo>
                      <a:pt x="7843" y="10798"/>
                      <a:pt x="7597" y="10552"/>
                      <a:pt x="7596" y="10252"/>
                    </a:cubicBezTo>
                    <a:lnTo>
                      <a:pt x="7596" y="9134"/>
                    </a:lnTo>
                    <a:lnTo>
                      <a:pt x="6478" y="9134"/>
                    </a:lnTo>
                    <a:cubicBezTo>
                      <a:pt x="6176" y="9135"/>
                      <a:pt x="5930" y="8890"/>
                      <a:pt x="5928" y="8586"/>
                    </a:cubicBezTo>
                    <a:lnTo>
                      <a:pt x="5928" y="8568"/>
                    </a:lnTo>
                    <a:cubicBezTo>
                      <a:pt x="5933" y="8266"/>
                      <a:pt x="6177" y="8025"/>
                      <a:pt x="6478" y="8023"/>
                    </a:cubicBezTo>
                    <a:lnTo>
                      <a:pt x="7596" y="8023"/>
                    </a:lnTo>
                    <a:lnTo>
                      <a:pt x="7596" y="6897"/>
                    </a:lnTo>
                    <a:cubicBezTo>
                      <a:pt x="7596" y="6596"/>
                      <a:pt x="7841" y="6352"/>
                      <a:pt x="8146" y="6352"/>
                    </a:cubicBezTo>
                    <a:lnTo>
                      <a:pt x="8163" y="6352"/>
                    </a:lnTo>
                    <a:cubicBezTo>
                      <a:pt x="8465" y="6352"/>
                      <a:pt x="8708" y="6596"/>
                      <a:pt x="8708" y="6897"/>
                    </a:cubicBezTo>
                    <a:lnTo>
                      <a:pt x="8708" y="8023"/>
                    </a:lnTo>
                    <a:lnTo>
                      <a:pt x="9830" y="8023"/>
                    </a:lnTo>
                    <a:lnTo>
                      <a:pt x="9830" y="80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/>
              </a:p>
            </p:txBody>
          </p:sp>
          <p:sp>
            <p:nvSpPr>
              <p:cNvPr id="16" name="Bullet1" descr="e4a66a74-86f9-41e9-a14f-6dc81de03fcf"/>
              <p:cNvSpPr/>
              <p:nvPr/>
            </p:nvSpPr>
            <p:spPr>
              <a:xfrm>
                <a:off x="4316191" y="1130300"/>
                <a:ext cx="1986915" cy="1457960"/>
              </a:xfrm>
              <a:prstGeom prst="roundRect">
                <a:avLst>
                  <a:gd name="adj" fmla="val 8000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latin typeface="Arial" panose="020B0604020202020204"/>
                  </a:rPr>
                  <a:t>Ansible安装</a:t>
                </a:r>
              </a:p>
            </p:txBody>
          </p:sp>
          <p:sp>
            <p:nvSpPr>
              <p:cNvPr id="17" name="Text1" descr="761545c2-6f2b-4202-b95a-a653ea10ad96"/>
              <p:cNvSpPr/>
              <p:nvPr/>
            </p:nvSpPr>
            <p:spPr>
              <a:xfrm>
                <a:off x="6302502" y="-408305"/>
                <a:ext cx="4101338" cy="2267378"/>
              </a:xfrm>
              <a:prstGeom prst="roundRect">
                <a:avLst>
                  <a:gd name="adj" fmla="val 4800"/>
                </a:avLst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 dirty="0" err="1">
                    <a:solidFill>
                      <a:srgbClr val="000000"/>
                    </a:solidFill>
                    <a:ea typeface="微软雅黑" panose="020B0503020204020204" charset="-122"/>
                  </a:rPr>
                  <a:t>在控制机上执行`yum</a:t>
                </a:r>
                <a:r>
                  <a:rPr lang="en-US" sz="1200" b="0" i="0" u="none" dirty="0">
                    <a:solidFill>
                      <a:srgbClr val="000000"/>
                    </a:solidFill>
                    <a:ea typeface="微软雅黑" panose="020B0503020204020204" charset="-122"/>
                  </a:rPr>
                  <a:t> install </a:t>
                </a:r>
                <a:r>
                  <a:rPr lang="en-US" sz="1200" b="0" i="0" u="none" dirty="0" err="1">
                    <a:solidFill>
                      <a:srgbClr val="000000"/>
                    </a:solidFill>
                    <a:ea typeface="微软雅黑" panose="020B0503020204020204" charset="-122"/>
                  </a:rPr>
                  <a:t>ansible</a:t>
                </a:r>
                <a:r>
                  <a:rPr lang="en-US" sz="1200" b="0" i="0" u="none" dirty="0">
                    <a:solidFill>
                      <a:srgbClr val="000000"/>
                    </a:solidFill>
                    <a:ea typeface="微软雅黑" panose="020B0503020204020204" charset="-122"/>
                  </a:rPr>
                  <a:t> -y`，</a:t>
                </a:r>
                <a:r>
                  <a:rPr lang="en-US" sz="1200" b="0" i="0" u="none" dirty="0" err="1">
                    <a:solidFill>
                      <a:srgbClr val="000000"/>
                    </a:solidFill>
                    <a:ea typeface="微软雅黑" panose="020B0503020204020204" charset="-122"/>
                  </a:rPr>
                  <a:t>通过截图展示安装过程及结果</a:t>
                </a:r>
                <a:r>
                  <a:rPr lang="en-US" sz="1200" b="0" i="0" u="none" dirty="0" smtClean="0">
                    <a:solidFill>
                      <a:srgbClr val="000000"/>
                    </a:solidFill>
                    <a:ea typeface="微软雅黑" panose="020B0503020204020204" charset="-122"/>
                  </a:rPr>
                  <a:t>，</a:t>
                </a:r>
                <a:r>
                  <a:rPr lang="zh-CN" altLang="en-US" sz="1200" b="0" i="0" u="none" dirty="0" smtClean="0">
                    <a:solidFill>
                      <a:srgbClr val="000000"/>
                    </a:solidFill>
                    <a:ea typeface="微软雅黑" panose="020B0503020204020204" charset="-122"/>
                  </a:rPr>
                  <a:t>通过</a:t>
                </a:r>
                <a:r>
                  <a:rPr lang="en-US" altLang="zh-CN" sz="1200" dirty="0" smtClean="0">
                    <a:solidFill>
                      <a:srgbClr val="000000"/>
                    </a:solidFill>
                    <a:ea typeface="微软雅黑" panose="020B0503020204020204" charset="-122"/>
                  </a:rPr>
                  <a:t>’</a:t>
                </a:r>
                <a:r>
                  <a:rPr lang="en-US" altLang="zh-CN" sz="1200" dirty="0" err="1" smtClean="0">
                    <a:solidFill>
                      <a:srgbClr val="000000"/>
                    </a:solidFill>
                    <a:ea typeface="微软雅黑" panose="020B0503020204020204" charset="-122"/>
                  </a:rPr>
                  <a:t>ansible</a:t>
                </a:r>
                <a:r>
                  <a:rPr lang="en-US" altLang="zh-CN" sz="1200" dirty="0" smtClean="0">
                    <a:solidFill>
                      <a:srgbClr val="000000"/>
                    </a:solidFill>
                    <a:ea typeface="微软雅黑" panose="020B0503020204020204" charset="-122"/>
                  </a:rPr>
                  <a:t> –</a:t>
                </a:r>
                <a:r>
                  <a:rPr lang="en-US" altLang="zh-CN" sz="1200" dirty="0" err="1" smtClean="0">
                    <a:solidFill>
                      <a:srgbClr val="000000"/>
                    </a:solidFill>
                    <a:ea typeface="微软雅黑" panose="020B0503020204020204" charset="-122"/>
                  </a:rPr>
                  <a:t>version’</a:t>
                </a:r>
                <a:r>
                  <a:rPr lang="en-US" sz="1200" b="0" i="0" u="none" dirty="0" err="1" smtClean="0">
                    <a:solidFill>
                      <a:srgbClr val="000000"/>
                    </a:solidFill>
                    <a:ea typeface="微软雅黑" panose="020B0503020204020204" charset="-122"/>
                  </a:rPr>
                  <a:t>确认</a:t>
                </a:r>
                <a:r>
                  <a:rPr lang="en-US" sz="1200" b="0" i="0" u="none" dirty="0" err="1">
                    <a:solidFill>
                      <a:srgbClr val="000000"/>
                    </a:solidFill>
                    <a:ea typeface="微软雅黑" panose="020B0503020204020204" charset="-122"/>
                  </a:rPr>
                  <a:t>Ansible已成功安装</a:t>
                </a:r>
                <a:r>
                  <a:rPr lang="en-US" sz="1200" b="0" i="0" u="none" dirty="0">
                    <a:solidFill>
                      <a:srgbClr val="000000"/>
                    </a:solidFill>
                    <a:ea typeface="微软雅黑" panose="020B0503020204020204" charset="-122"/>
                  </a:rPr>
                  <a:t>。</a:t>
                </a:r>
              </a:p>
              <a:p>
                <a:pPr algn="l">
                  <a:lnSpc>
                    <a:spcPct val="120000"/>
                  </a:lnSpc>
                </a:pPr>
                <a:endParaRPr lang="en-US" sz="1200" b="0" i="0" u="none" dirty="0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cxnSp>
            <p:nvCxnSpPr>
              <p:cNvPr id="18" name="Line1" descr="92764254-cb6e-47a9-82b9-cae86554bf26"/>
              <p:cNvCxnSpPr>
                <a:stCxn id="16" idx="1"/>
                <a:endCxn id="14" idx="3"/>
              </p:cNvCxnSpPr>
              <p:nvPr/>
            </p:nvCxnSpPr>
            <p:spPr>
              <a:xfrm rot="10800000" flipV="1">
                <a:off x="3888105" y="1859280"/>
                <a:ext cx="427990" cy="1772920"/>
              </a:xfrm>
              <a:prstGeom prst="bentConnector3">
                <a:avLst>
                  <a:gd name="adj1" fmla="val 50022"/>
                </a:avLst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组合 6" descr="d8aa61cb-717e-403d-8870-354502fc4019"/>
            <p:cNvGrpSpPr/>
            <p:nvPr/>
          </p:nvGrpSpPr>
          <p:grpSpPr>
            <a:xfrm>
              <a:off x="3888105" y="2588260"/>
              <a:ext cx="6594475" cy="3545841"/>
              <a:chOff x="3888105" y="2588260"/>
              <a:chExt cx="6594475" cy="3545841"/>
            </a:xfrm>
          </p:grpSpPr>
          <p:sp>
            <p:nvSpPr>
              <p:cNvPr id="8" name="Bullet2" descr="010e93c9-7678-44e7-9463-20094e6c744c"/>
              <p:cNvSpPr/>
              <p:nvPr/>
            </p:nvSpPr>
            <p:spPr>
              <a:xfrm>
                <a:off x="4395059" y="4598671"/>
                <a:ext cx="1986915" cy="1535430"/>
              </a:xfrm>
              <a:prstGeom prst="roundRect">
                <a:avLst>
                  <a:gd name="adj" fmla="val 8000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latin typeface="Arial" panose="020B0604020202020204"/>
                  </a:rPr>
                  <a:t>SSH免密认证</a:t>
                </a:r>
              </a:p>
            </p:txBody>
          </p:sp>
          <p:sp>
            <p:nvSpPr>
              <p:cNvPr id="9" name="Text2" descr="5a0cdb5f-f72e-4991-b634-6ed254ff1bdc"/>
              <p:cNvSpPr/>
              <p:nvPr/>
            </p:nvSpPr>
            <p:spPr>
              <a:xfrm>
                <a:off x="6381750" y="2588260"/>
                <a:ext cx="4100830" cy="2807970"/>
              </a:xfrm>
              <a:prstGeom prst="roundRect">
                <a:avLst>
                  <a:gd name="adj" fmla="val 4800"/>
                </a:avLst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执行`ssh-keygen`生成密钥对。使用`ssh-copy-id ip"`命令，将公钥分发至所有被管节点，实现免密登录。</a:t>
                </a:r>
              </a:p>
              <a:p>
                <a:pPr algn="l">
                  <a:lnSpc>
                    <a:spcPct val="120000"/>
                  </a:lnSpc>
                </a:pPr>
                <a:endParaRPr lang="en-US" sz="1200" b="0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cxnSp>
            <p:nvCxnSpPr>
              <p:cNvPr id="10" name="Line2" descr="be2946d5-bcd8-4efa-890f-84b47d3f7de6"/>
              <p:cNvCxnSpPr>
                <a:stCxn id="8" idx="1"/>
                <a:endCxn id="14" idx="3"/>
              </p:cNvCxnSpPr>
              <p:nvPr/>
            </p:nvCxnSpPr>
            <p:spPr>
              <a:xfrm rot="10800000">
                <a:off x="3888105" y="3632200"/>
                <a:ext cx="506730" cy="1734185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" name="标题 5" descr="986ed6b0-9799-47a5-a099-9370a275831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 dirty="0" err="1">
                <a:solidFill>
                  <a:srgbClr val="626AF8"/>
                </a:solidFill>
                <a:latin typeface="Arial" panose="020B0604020202020204"/>
              </a:rPr>
              <a:t>Ansible安装与配置</a:t>
            </a:r>
            <a:endParaRPr lang="en-US" sz="2800" b="1" i="0" u="none" dirty="0">
              <a:solidFill>
                <a:srgbClr val="626AF8"/>
              </a:solidFill>
              <a:latin typeface="Arial" panose="020B0604020202020204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922020"/>
            <a:ext cx="5039360" cy="241554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8585" y="4124325"/>
            <a:ext cx="4962525" cy="27336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300e0c0b-0462-4a6b-95cd-3a67c6baf2bd.source.2.zh-Hans.pptx" descr="aac1a149-2764-4b6f-842e-25f84032b594"/>
          <p:cNvGrpSpPr/>
          <p:nvPr/>
        </p:nvGrpSpPr>
        <p:grpSpPr>
          <a:xfrm>
            <a:off x="660400" y="1130301"/>
            <a:ext cx="10858500" cy="5003799"/>
            <a:chOff x="660400" y="1130301"/>
            <a:chExt cx="10858500" cy="5003799"/>
          </a:xfrm>
        </p:grpSpPr>
        <p:sp>
          <p:nvSpPr>
            <p:cNvPr id="2" name="Title" descr="e8f8e8da-c6df-4c0d-962f-1915c9489f3f"/>
            <p:cNvSpPr txBox="1"/>
            <p:nvPr/>
          </p:nvSpPr>
          <p:spPr>
            <a:xfrm>
              <a:off x="660400" y="1130301"/>
              <a:ext cx="2573454" cy="2181612"/>
            </a:xfrm>
            <a:prstGeom prst="roundRect">
              <a:avLst>
                <a:gd name="adj" fmla="val 6882"/>
              </a:avLst>
            </a:prstGeom>
            <a:solidFill>
              <a:schemeClr val="tx1">
                <a:alpha val="5000"/>
              </a:schemeClr>
            </a:solidFill>
          </p:spPr>
          <p:txBody>
            <a:bodyPr wrap="square" lIns="90000" tIns="46800" rIns="90000" bIns="46800" rtlCol="0" anchor="ctr" anchorCtr="0">
              <a:normAutofit fontScale="92500" lnSpcReduction="10000"/>
            </a:bodyPr>
            <a:lstStyle>
              <a:defPPr>
                <a:defRPr lang="zh-CN"/>
              </a:defPPr>
              <a:lvl1pPr>
                <a:defRPr sz="2400" b="1">
                  <a:cs typeface="+mn-ea"/>
                </a:defRPr>
              </a:lvl1pPr>
            </a:lstStyle>
            <a:p>
              <a:pPr algn="l"/>
              <a:r>
                <a:rPr lang="en-US" sz="2400" b="1" i="0" u="none">
                  <a:solidFill>
                    <a:srgbClr val="000000"/>
                  </a:solidFill>
                  <a:ea typeface="微软雅黑" panose="020B0503020204020204" charset="-122"/>
                </a:rPr>
                <a:t>定义Ansible主机清单，并对其进行连通性测试，确保Ansible能够正确识别并连接所有目标主机。</a:t>
              </a:r>
            </a:p>
          </p:txBody>
        </p:sp>
        <p:cxnSp>
          <p:nvCxnSpPr>
            <p:cNvPr id="7" name="直接连接符 6" descr="7a624dbd-39da-4274-a59e-63a0705e85c5"/>
            <p:cNvCxnSpPr>
              <a:stCxn id="40" idx="4"/>
              <a:endCxn id="6" idx="4"/>
            </p:cNvCxnSpPr>
            <p:nvPr/>
          </p:nvCxnSpPr>
          <p:spPr>
            <a:xfrm>
              <a:off x="3625852" y="1628097"/>
              <a:ext cx="0" cy="2496961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组合 2" descr="9c51f79b-4434-4cb2-8b2e-cbd35343d916"/>
            <p:cNvGrpSpPr/>
            <p:nvPr/>
          </p:nvGrpSpPr>
          <p:grpSpPr>
            <a:xfrm>
              <a:off x="3403298" y="1183481"/>
              <a:ext cx="8115602" cy="2453658"/>
              <a:chOff x="3403298" y="1183481"/>
              <a:chExt cx="8115602" cy="2453658"/>
            </a:xfrm>
          </p:grpSpPr>
          <p:sp>
            <p:nvSpPr>
              <p:cNvPr id="42" name="Text1" descr="2f2d7cf7-f1b1-44c9-9fee-0b0f481561f6"/>
              <p:cNvSpPr txBox="1"/>
              <p:nvPr/>
            </p:nvSpPr>
            <p:spPr>
              <a:xfrm>
                <a:off x="3890498" y="1628096"/>
                <a:ext cx="7628401" cy="2009043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lnSpc>
                    <a:spcPct val="150000"/>
                  </a:lnSpc>
                  <a:defRPr kumimoji="0" sz="1050" i="0" u="none" strike="noStrike" kern="1200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 dirty="0">
                    <a:solidFill>
                      <a:srgbClr val="000000"/>
                    </a:solidFill>
                    <a:ea typeface="微软雅黑" panose="020B0503020204020204" charset="-122"/>
                  </a:rPr>
                  <a:t>在`/</a:t>
                </a:r>
                <a:r>
                  <a:rPr lang="en-US" sz="1200" b="0" i="0" u="none" dirty="0" err="1">
                    <a:solidFill>
                      <a:srgbClr val="000000"/>
                    </a:solidFill>
                    <a:ea typeface="微软雅黑" panose="020B0503020204020204" charset="-122"/>
                  </a:rPr>
                  <a:t>etc</a:t>
                </a:r>
                <a:r>
                  <a:rPr lang="en-US" sz="1200" b="0" i="0" u="none" dirty="0">
                    <a:solidFill>
                      <a:srgbClr val="000000"/>
                    </a:solidFill>
                    <a:ea typeface="微软雅黑" panose="020B0503020204020204" charset="-122"/>
                  </a:rPr>
                  <a:t>/</a:t>
                </a:r>
                <a:r>
                  <a:rPr lang="en-US" sz="1200" b="0" i="0" u="none" dirty="0" err="1">
                    <a:solidFill>
                      <a:srgbClr val="000000"/>
                    </a:solidFill>
                    <a:ea typeface="微软雅黑" panose="020B0503020204020204" charset="-122"/>
                  </a:rPr>
                  <a:t>ansible</a:t>
                </a:r>
                <a:r>
                  <a:rPr lang="en-US" sz="1200" b="0" i="0" u="none" dirty="0">
                    <a:solidFill>
                      <a:srgbClr val="000000"/>
                    </a:solidFill>
                    <a:ea typeface="微软雅黑" panose="020B0503020204020204" charset="-122"/>
                  </a:rPr>
                  <a:t>/</a:t>
                </a:r>
                <a:r>
                  <a:rPr lang="en-US" sz="1200" b="0" i="0" u="none" dirty="0" err="1">
                    <a:solidFill>
                      <a:srgbClr val="000000"/>
                    </a:solidFill>
                    <a:ea typeface="微软雅黑" panose="020B0503020204020204" charset="-122"/>
                  </a:rPr>
                  <a:t>hosts`中自定义分组，结构如下</a:t>
                </a:r>
                <a:r>
                  <a:rPr lang="en-US" sz="1200" b="0" i="0" u="none" dirty="0">
                    <a:solidFill>
                      <a:srgbClr val="000000"/>
                    </a:solidFill>
                    <a:ea typeface="微软雅黑" panose="020B0503020204020204" charset="-122"/>
                  </a:rPr>
                  <a:t>：</a:t>
                </a:r>
              </a:p>
            </p:txBody>
          </p:sp>
          <p:sp>
            <p:nvSpPr>
              <p:cNvPr id="43" name="Bullet1" descr="5a45fca8-11b2-4244-88e5-7ca338f27782"/>
              <p:cNvSpPr txBox="1"/>
              <p:nvPr/>
            </p:nvSpPr>
            <p:spPr>
              <a:xfrm>
                <a:off x="3890499" y="1183481"/>
                <a:ext cx="7628401" cy="444616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kumimoji="0" sz="1400" b="1" i="0" u="none" strike="noStrike" kern="1200" cap="none" spc="0" normalizeH="0" baseline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主机清单配置</a:t>
                </a:r>
              </a:p>
            </p:txBody>
          </p:sp>
          <p:sp>
            <p:nvSpPr>
              <p:cNvPr id="40" name="Number1" descr="754e6eb4-aadc-4b8e-bf24-3e55d60f121f"/>
              <p:cNvSpPr/>
              <p:nvPr/>
            </p:nvSpPr>
            <p:spPr>
              <a:xfrm>
                <a:off x="3403298" y="1183481"/>
                <a:ext cx="445108" cy="444616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400" b="1" i="0" u="none">
                    <a:solidFill>
                      <a:srgbClr val="FFFFFF"/>
                    </a:solidFill>
                    <a:latin typeface="Arial" panose="020B0604020202020204"/>
                  </a:rPr>
                  <a:t>1</a:t>
                </a:r>
              </a:p>
            </p:txBody>
          </p:sp>
        </p:grpSp>
        <p:grpSp>
          <p:nvGrpSpPr>
            <p:cNvPr id="11" name="组合 10" descr="d5982133-f24d-4192-bc58-101eb2a32633"/>
            <p:cNvGrpSpPr/>
            <p:nvPr/>
          </p:nvGrpSpPr>
          <p:grpSpPr>
            <a:xfrm>
              <a:off x="3403298" y="3680442"/>
              <a:ext cx="8115602" cy="2453658"/>
              <a:chOff x="3403298" y="2454892"/>
              <a:chExt cx="8115602" cy="2453658"/>
            </a:xfrm>
          </p:grpSpPr>
          <p:sp>
            <p:nvSpPr>
              <p:cNvPr id="10" name="Text2" descr="69fe5bec-e35a-47b5-a569-dc5572a95280"/>
              <p:cNvSpPr txBox="1"/>
              <p:nvPr/>
            </p:nvSpPr>
            <p:spPr>
              <a:xfrm>
                <a:off x="3890499" y="2899507"/>
                <a:ext cx="3324494" cy="2009043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lnSpc>
                    <a:spcPct val="150000"/>
                  </a:lnSpc>
                  <a:defRPr kumimoji="0" sz="1050" i="0" u="none" strike="noStrike" kern="1200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 dirty="0" err="1">
                    <a:solidFill>
                      <a:srgbClr val="000000"/>
                    </a:solidFill>
                    <a:ea typeface="微软雅黑" panose="020B0503020204020204" charset="-122"/>
                  </a:rPr>
                  <a:t>执行`ansible</a:t>
                </a:r>
                <a:r>
                  <a:rPr lang="en-US" sz="1200" b="0" i="0" u="none" dirty="0">
                    <a:solidFill>
                      <a:srgbClr val="000000"/>
                    </a:solidFill>
                    <a:ea typeface="微软雅黑" panose="020B0503020204020204" charset="-122"/>
                  </a:rPr>
                  <a:t> all -m ping`命令，截图显示所有主机均返回`success`和`pong`，</a:t>
                </a:r>
                <a:r>
                  <a:rPr lang="en-US" sz="1200" b="0" i="0" u="none" dirty="0" err="1">
                    <a:solidFill>
                      <a:srgbClr val="000000"/>
                    </a:solidFill>
                    <a:ea typeface="微软雅黑" panose="020B0503020204020204" charset="-122"/>
                  </a:rPr>
                  <a:t>证明Ansible已成功连接集群内所有服务器</a:t>
                </a:r>
                <a:r>
                  <a:rPr lang="en-US" sz="1200" b="0" i="0" u="none" dirty="0">
                    <a:solidFill>
                      <a:srgbClr val="000000"/>
                    </a:solidFill>
                    <a:ea typeface="微软雅黑" panose="020B0503020204020204" charset="-122"/>
                  </a:rPr>
                  <a:t>。</a:t>
                </a:r>
              </a:p>
            </p:txBody>
          </p:sp>
          <p:sp>
            <p:nvSpPr>
              <p:cNvPr id="12" name="Bullet2" descr="8584f643-d088-4e81-b461-3e99b9dc245a"/>
              <p:cNvSpPr txBox="1"/>
              <p:nvPr/>
            </p:nvSpPr>
            <p:spPr>
              <a:xfrm>
                <a:off x="3890499" y="2454892"/>
                <a:ext cx="7628401" cy="444616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kumimoji="0" sz="1400" b="1" i="0" u="none" strike="noStrike" kern="1200" cap="none" spc="0" normalizeH="0" baseline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连通性测试</a:t>
                </a:r>
              </a:p>
            </p:txBody>
          </p:sp>
          <p:sp>
            <p:nvSpPr>
              <p:cNvPr id="6" name="Number2" descr="f289945c-c275-4027-8d95-c0d3737ce522"/>
              <p:cNvSpPr/>
              <p:nvPr/>
            </p:nvSpPr>
            <p:spPr>
              <a:xfrm>
                <a:off x="3403298" y="2454892"/>
                <a:ext cx="445108" cy="444616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400" b="1" i="0" u="none">
                    <a:solidFill>
                      <a:srgbClr val="FFFFFF"/>
                    </a:solidFill>
                    <a:latin typeface="Arial" panose="020B0604020202020204"/>
                  </a:rPr>
                  <a:t>2</a:t>
                </a:r>
              </a:p>
            </p:txBody>
          </p:sp>
        </p:grpSp>
      </p:grpSp>
      <p:sp>
        <p:nvSpPr>
          <p:cNvPr id="4" name="标题 3" descr="986ed6b0-9799-47a5-a099-9370a275831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626AF8"/>
                </a:solidFill>
                <a:latin typeface="Arial" panose="020B0604020202020204"/>
              </a:rPr>
              <a:t>Inventory与连通性测试</a:t>
            </a:r>
          </a:p>
        </p:txBody>
      </p:sp>
      <p:pic>
        <p:nvPicPr>
          <p:cNvPr id="14" name="图片 13"/>
          <p:cNvPicPr/>
          <p:nvPr/>
        </p:nvPicPr>
        <p:blipFill>
          <a:blip r:embed="rId2"/>
          <a:stretch>
            <a:fillRect/>
          </a:stretch>
        </p:blipFill>
        <p:spPr>
          <a:xfrm>
            <a:off x="7214992" y="1671400"/>
            <a:ext cx="4977008" cy="2348818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3"/>
          <a:stretch>
            <a:fillRect/>
          </a:stretch>
        </p:blipFill>
        <p:spPr>
          <a:xfrm>
            <a:off x="7214992" y="4125056"/>
            <a:ext cx="4977007" cy="273294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标题 24" descr="7f0ea7ff-6ece-4b88-b112-01279104e764"/>
          <p:cNvSpPr>
            <a:spLocks noGrp="1"/>
          </p:cNvSpPr>
          <p:nvPr>
            <p:ph type="title" sz="quarter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200" b="1" i="0" u="none">
                <a:solidFill>
                  <a:srgbClr val="FFFFFF"/>
                </a:solidFill>
                <a:ea typeface="微软雅黑" panose="020B0503020204020204" charset="-122"/>
              </a:rPr>
              <a:t>核心服务自动化部署</a:t>
            </a:r>
          </a:p>
        </p:txBody>
      </p:sp>
      <p:sp>
        <p:nvSpPr>
          <p:cNvPr id="5" name="文本占位符 4" descr="b0e1de57-aa6c-49fa-971a-1b7e0077aa68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1600" b="0" i="0" u="none">
                <a:solidFill>
                  <a:srgbClr val="FFFFFF"/>
                </a:solidFill>
                <a:ea typeface="微软雅黑" panose="020B0503020204020204" charset="-122"/>
              </a:rPr>
              <a:t>本章节利用Ansible Playbook，自动化部署云数据中心的核心Web与数据库服务，并展示个性化定制效果。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dfb8e719-bc77-4df4-ad66-c9f63a1f8954.source.2.zh-Hans.pptx" descr="345c4632-88db-4233-a36a-fad984bc60c2"/>
          <p:cNvGrpSpPr/>
          <p:nvPr/>
        </p:nvGrpSpPr>
        <p:grpSpPr>
          <a:xfrm>
            <a:off x="660400" y="1130300"/>
            <a:ext cx="10858500" cy="4960258"/>
            <a:chOff x="660400" y="1130300"/>
            <a:chExt cx="10858500" cy="4960258"/>
          </a:xfrm>
        </p:grpSpPr>
        <p:grpSp>
          <p:nvGrpSpPr>
            <p:cNvPr id="5" name="组合 4" descr="86a1ebac-5784-4a8d-9930-1046786fbcd9"/>
            <p:cNvGrpSpPr/>
            <p:nvPr/>
          </p:nvGrpSpPr>
          <p:grpSpPr>
            <a:xfrm>
              <a:off x="660400" y="1130300"/>
              <a:ext cx="10858500" cy="4960258"/>
              <a:chOff x="660400" y="1130300"/>
              <a:chExt cx="10858500" cy="4960258"/>
            </a:xfrm>
          </p:grpSpPr>
          <p:sp>
            <p:nvSpPr>
              <p:cNvPr id="4" name="Title" descr="562d5b42-45ef-476c-8006-33953b1596a0"/>
              <p:cNvSpPr/>
              <p:nvPr/>
            </p:nvSpPr>
            <p:spPr>
              <a:xfrm>
                <a:off x="660400" y="1130300"/>
                <a:ext cx="10858500" cy="720000"/>
              </a:xfrm>
              <a:prstGeom prst="roundRect">
                <a:avLst>
                  <a:gd name="adj" fmla="val 0"/>
                </a:avLst>
              </a:prstGeom>
              <a:noFill/>
              <a:ln w="6350" cap="rnd">
                <a:solidFill>
                  <a:schemeClr val="tx1">
                    <a:alpha val="50000"/>
                  </a:schemeClr>
                </a:solidFill>
                <a:prstDash val="solid"/>
                <a:round/>
              </a:ln>
              <a:effectLst>
                <a:outerShdw blurRad="254000" dist="127000" dir="5400000" algn="ctr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l"/>
                <a:r>
                  <a:rPr lang="zh-CN" altLang="en-US" sz="2400" b="1" i="0" u="none" dirty="0" smtClean="0">
                    <a:solidFill>
                      <a:srgbClr val="000000"/>
                    </a:solidFill>
                    <a:ea typeface="微软雅黑" panose="020B0503020204020204" charset="-122"/>
                  </a:rPr>
                  <a:t>使用</a:t>
                </a:r>
                <a:r>
                  <a:rPr lang="en-US" altLang="zh-CN" sz="2400" b="1" dirty="0" err="1" smtClean="0">
                    <a:solidFill>
                      <a:srgbClr val="000000"/>
                    </a:solidFill>
                    <a:ea typeface="微软雅黑" panose="020B0503020204020204" charset="-122"/>
                  </a:rPr>
                  <a:t>Ansible</a:t>
                </a:r>
                <a:r>
                  <a:rPr lang="zh-CN" altLang="en-US" sz="2400" b="1" dirty="0" smtClean="0">
                    <a:solidFill>
                      <a:srgbClr val="000000"/>
                    </a:solidFill>
                    <a:ea typeface="微软雅黑" panose="020B0503020204020204" charset="-122"/>
                  </a:rPr>
                  <a:t>部署</a:t>
                </a:r>
                <a:r>
                  <a:rPr lang="en-US" altLang="zh-CN" sz="2400" b="1" dirty="0" smtClean="0">
                    <a:solidFill>
                      <a:srgbClr val="000000"/>
                    </a:solidFill>
                    <a:ea typeface="微软雅黑" panose="020B0503020204020204" charset="-122"/>
                  </a:rPr>
                  <a:t>DHCP</a:t>
                </a:r>
                <a:r>
                  <a:rPr lang="zh-CN" altLang="en-US" sz="2400" b="1" i="0" u="none" dirty="0" smtClean="0">
                    <a:solidFill>
                      <a:srgbClr val="000000"/>
                    </a:solidFill>
                    <a:ea typeface="微软雅黑" panose="020B0503020204020204" charset="-122"/>
                  </a:rPr>
                  <a:t>服务</a:t>
                </a:r>
                <a:r>
                  <a:rPr lang="en-US" altLang="zh-CN" sz="2400" b="1" i="0" u="none" dirty="0" smtClean="0">
                    <a:solidFill>
                      <a:srgbClr val="000000"/>
                    </a:solidFill>
                    <a:ea typeface="微软雅黑" panose="020B0503020204020204" charset="-122"/>
                  </a:rPr>
                  <a:t> </a:t>
                </a:r>
                <a:endParaRPr lang="en-US" altLang="zh-CN" sz="2400" b="1" i="0" u="none" dirty="0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grpSp>
            <p:nvGrpSpPr>
              <p:cNvPr id="9" name="组合 8" descr="bc4e665f-76c0-4610-b069-0b09dd0355b5"/>
              <p:cNvGrpSpPr/>
              <p:nvPr/>
            </p:nvGrpSpPr>
            <p:grpSpPr>
              <a:xfrm>
                <a:off x="1240527" y="2731243"/>
                <a:ext cx="4508500" cy="3359315"/>
                <a:chOff x="1240527" y="2731243"/>
                <a:chExt cx="4508500" cy="3359315"/>
              </a:xfrm>
            </p:grpSpPr>
            <p:sp>
              <p:nvSpPr>
                <p:cNvPr id="6" name="Bullet1" descr="4c99a19b-66f3-42c6-b155-98d97e2b9faf"/>
                <p:cNvSpPr/>
                <p:nvPr/>
              </p:nvSpPr>
              <p:spPr>
                <a:xfrm>
                  <a:off x="1240527" y="3085856"/>
                  <a:ext cx="4508500" cy="558000"/>
                </a:xfrm>
                <a:prstGeom prst="rect">
                  <a:avLst/>
                </a:prstGeom>
                <a:noFill/>
                <a:ln w="6350" cap="rnd">
                  <a:solidFill>
                    <a:schemeClr val="tx1">
                      <a:alpha val="50000"/>
                    </a:schemeClr>
                  </a:solidFill>
                  <a:prstDash val="solid"/>
                  <a:round/>
                </a:ln>
                <a:effectLst>
                  <a:outerShdw blurRad="254000" dist="127000" dir="5400000" algn="ctr" rotWithShape="0">
                    <a:schemeClr val="accent2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zh-CN" altLang="en-US" sz="1800" b="1" i="0" u="none" dirty="0" smtClean="0">
                      <a:solidFill>
                        <a:srgbClr val="000000"/>
                      </a:solidFill>
                      <a:latin typeface="Arial" panose="020B0604020202020204"/>
                    </a:rPr>
                    <a:t>文件</a:t>
                  </a:r>
                  <a:r>
                    <a:rPr lang="en-US" sz="1800" b="1" i="0" u="none" dirty="0" err="1" smtClean="0">
                      <a:solidFill>
                        <a:srgbClr val="000000"/>
                      </a:solidFill>
                      <a:latin typeface="Arial" panose="020B0604020202020204"/>
                    </a:rPr>
                    <a:t>编写</a:t>
                  </a:r>
                  <a:endParaRPr lang="en-US" sz="1800" b="1" i="0" u="none" dirty="0">
                    <a:solidFill>
                      <a:srgbClr val="000000"/>
                    </a:solidFill>
                    <a:latin typeface="Arial" panose="020B0604020202020204"/>
                  </a:endParaRPr>
                </a:p>
              </p:txBody>
            </p:sp>
            <p:sp>
              <p:nvSpPr>
                <p:cNvPr id="7" name="Text1" descr="477aa051-2adf-46ba-9ba6-883a036d8b2d"/>
                <p:cNvSpPr/>
                <p:nvPr/>
              </p:nvSpPr>
              <p:spPr>
                <a:xfrm>
                  <a:off x="1240527" y="3744687"/>
                  <a:ext cx="4508500" cy="234587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t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zh-CN" altLang="en-US" sz="1200" b="0" i="0" u="none" dirty="0" smtClean="0">
                      <a:solidFill>
                        <a:srgbClr val="000000"/>
                      </a:solidFill>
                      <a:ea typeface="微软雅黑" panose="020B0503020204020204" charset="-122"/>
                    </a:rPr>
                    <a:t>编辑</a:t>
                  </a:r>
                  <a:r>
                    <a:rPr lang="en-US" altLang="zh-CN" sz="1200" b="0" i="0" u="none" dirty="0" smtClean="0">
                      <a:solidFill>
                        <a:srgbClr val="000000"/>
                      </a:solidFill>
                      <a:ea typeface="微软雅黑" panose="020B0503020204020204" charset="-122"/>
                    </a:rPr>
                    <a:t>tasks/</a:t>
                  </a:r>
                  <a:r>
                    <a:rPr lang="en-US" altLang="zh-CN" sz="1200" b="0" i="0" u="none" dirty="0" err="1" smtClean="0">
                      <a:solidFill>
                        <a:srgbClr val="000000"/>
                      </a:solidFill>
                      <a:ea typeface="微软雅黑" panose="020B0503020204020204" charset="-122"/>
                    </a:rPr>
                    <a:t>main.yml</a:t>
                  </a:r>
                  <a:r>
                    <a:rPr lang="zh-CN" altLang="en-US" sz="1200" b="0" i="0" u="none" dirty="0" smtClean="0">
                      <a:solidFill>
                        <a:srgbClr val="000000"/>
                      </a:solidFill>
                      <a:ea typeface="微软雅黑" panose="020B0503020204020204" charset="-122"/>
                    </a:rPr>
                    <a:t>文件，添加配置</a:t>
                  </a:r>
                  <a:r>
                    <a:rPr lang="en-US" altLang="zh-CN" sz="1200" b="0" i="0" u="none" dirty="0" smtClean="0">
                      <a:solidFill>
                        <a:srgbClr val="000000"/>
                      </a:solidFill>
                      <a:ea typeface="微软雅黑" panose="020B0503020204020204" charset="-122"/>
                    </a:rPr>
                    <a:t>DHCP</a:t>
                  </a:r>
                  <a:r>
                    <a:rPr lang="zh-CN" altLang="en-US" sz="1200" b="0" i="0" u="none" dirty="0" smtClean="0">
                      <a:solidFill>
                        <a:srgbClr val="000000"/>
                      </a:solidFill>
                      <a:ea typeface="微软雅黑" panose="020B0503020204020204" charset="-122"/>
                    </a:rPr>
                    <a:t>服务器的任务。</a:t>
                  </a:r>
                  <a:endParaRPr lang="en-US" altLang="zh-CN" sz="1200" b="0" i="0" u="none" dirty="0" smtClean="0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  <a:p>
                  <a:pPr algn="l">
                    <a:lnSpc>
                      <a:spcPct val="120000"/>
                    </a:lnSpc>
                  </a:pPr>
                  <a:endParaRPr lang="zh-CN" altLang="en-US" sz="1200" b="0" i="0" u="none" dirty="0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  <a:p>
                  <a:pPr algn="l">
                    <a:lnSpc>
                      <a:spcPct val="120000"/>
                    </a:lnSpc>
                  </a:pPr>
                  <a:endParaRPr lang="zh-CN" altLang="en-US" sz="1200" b="0" i="0" u="none" dirty="0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8" name="Number1" descr="9ea28d72-0c1e-47cd-8025-82e1725133be"/>
                <p:cNvSpPr/>
                <p:nvPr/>
              </p:nvSpPr>
              <p:spPr>
                <a:xfrm>
                  <a:off x="3037753" y="2731243"/>
                  <a:ext cx="914048" cy="360000"/>
                </a:xfrm>
                <a:prstGeom prst="rect">
                  <a:avLst/>
                </a:prstGeom>
                <a:solidFill>
                  <a:schemeClr val="accent1"/>
                </a:solidFill>
                <a:ln w="5715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non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1600" b="0" i="0" u="none">
                      <a:solidFill>
                        <a:srgbClr val="FFFFFF"/>
                      </a:solidFill>
                      <a:latin typeface="Arial" panose="020B0604020202020204"/>
                    </a:rPr>
                    <a:t>1</a:t>
                  </a:r>
                </a:p>
              </p:txBody>
            </p:sp>
          </p:grpSp>
          <p:grpSp>
            <p:nvGrpSpPr>
              <p:cNvPr id="10" name="组合 9" descr="1e6425f4-a020-4e38-90fd-af7f9f99d640"/>
              <p:cNvGrpSpPr/>
              <p:nvPr/>
            </p:nvGrpSpPr>
            <p:grpSpPr>
              <a:xfrm>
                <a:off x="6430274" y="2731243"/>
                <a:ext cx="4508500" cy="3359315"/>
                <a:chOff x="6430274" y="2731243"/>
                <a:chExt cx="4508500" cy="3359315"/>
              </a:xfrm>
            </p:grpSpPr>
            <p:sp>
              <p:nvSpPr>
                <p:cNvPr id="12" name="Bullet2" descr="8b9e721a-352f-4e05-b197-6558365a9de0"/>
                <p:cNvSpPr/>
                <p:nvPr/>
              </p:nvSpPr>
              <p:spPr>
                <a:xfrm>
                  <a:off x="6430274" y="3085856"/>
                  <a:ext cx="4508500" cy="558000"/>
                </a:xfrm>
                <a:prstGeom prst="rect">
                  <a:avLst/>
                </a:prstGeom>
                <a:noFill/>
                <a:ln w="6350" cap="rnd">
                  <a:solidFill>
                    <a:schemeClr val="tx1">
                      <a:alpha val="50000"/>
                    </a:schemeClr>
                  </a:solidFill>
                  <a:prstDash val="solid"/>
                  <a:round/>
                </a:ln>
                <a:effectLst>
                  <a:outerShdw blurRad="254000" dist="127000" dir="5400000" algn="ctr" rotWithShape="0">
                    <a:schemeClr val="accent3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en-US" sz="1800" b="1" i="0" u="none" dirty="0" err="1">
                      <a:solidFill>
                        <a:srgbClr val="000000"/>
                      </a:solidFill>
                      <a:ea typeface="微软雅黑" panose="020B0503020204020204" charset="-122"/>
                    </a:rPr>
                    <a:t>部署结果验证</a:t>
                  </a:r>
                  <a:endParaRPr lang="en-US" sz="1800" b="1" i="0" u="none" dirty="0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13" name="Text2" descr="ccbe754d-8f96-46a3-8da9-e84581614b56"/>
                <p:cNvSpPr/>
                <p:nvPr/>
              </p:nvSpPr>
              <p:spPr>
                <a:xfrm>
                  <a:off x="6430274" y="3744687"/>
                  <a:ext cx="4508500" cy="234587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t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zh-CN" altLang="en-US" sz="1200" dirty="0" smtClean="0">
                      <a:solidFill>
                        <a:srgbClr val="000000"/>
                      </a:solidFill>
                      <a:ea typeface="微软雅黑" panose="020B0503020204020204" charset="-122"/>
                    </a:rPr>
                    <a:t>在</a:t>
                  </a:r>
                  <a:r>
                    <a:rPr lang="en-US" altLang="zh-CN" sz="1200" dirty="0" err="1" smtClean="0">
                      <a:solidFill>
                        <a:srgbClr val="000000"/>
                      </a:solidFill>
                      <a:ea typeface="微软雅黑" panose="020B0503020204020204" charset="-122"/>
                    </a:rPr>
                    <a:t>Ansible</a:t>
                  </a:r>
                  <a:r>
                    <a:rPr lang="zh-CN" altLang="en-US" sz="1200" dirty="0" smtClean="0">
                      <a:solidFill>
                        <a:srgbClr val="000000"/>
                      </a:solidFill>
                      <a:ea typeface="微软雅黑" panose="020B0503020204020204" charset="-122"/>
                    </a:rPr>
                    <a:t>项目录下运行</a:t>
                  </a:r>
                  <a:r>
                    <a:rPr lang="en-US" altLang="zh-CN" sz="1200" dirty="0" err="1" smtClean="0">
                      <a:solidFill>
                        <a:srgbClr val="000000"/>
                      </a:solidFill>
                      <a:ea typeface="微软雅黑" panose="020B0503020204020204" charset="-122"/>
                    </a:rPr>
                    <a:t>dhcp_server_playbook.yml</a:t>
                  </a:r>
                  <a:endParaRPr lang="zh-CN" altLang="en-US" sz="1200" b="0" i="0" u="none" dirty="0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14" name="Number2" descr="95f4edc2-4896-4eb5-a229-74e86d0678bf"/>
                <p:cNvSpPr/>
                <p:nvPr/>
              </p:nvSpPr>
              <p:spPr>
                <a:xfrm>
                  <a:off x="8227500" y="2731243"/>
                  <a:ext cx="914048" cy="360000"/>
                </a:xfrm>
                <a:prstGeom prst="rect">
                  <a:avLst/>
                </a:prstGeom>
                <a:solidFill>
                  <a:schemeClr val="accent1"/>
                </a:solidFill>
                <a:ln w="5715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none" lIns="91440" tIns="45720" rIns="91440" bIns="45720" numCol="1" spcCol="0" rtlCol="0" fromWordArt="0" anchor="ctr" anchorCtr="0" forceAA="0" compatLnSpc="1">
                  <a:normAutofit/>
                </a:bodyPr>
                <a:lstStyle/>
                <a:p>
                  <a:pPr algn="ctr"/>
                  <a:r>
                    <a:rPr lang="en-US" sz="1600" b="0" i="0" u="none">
                      <a:solidFill>
                        <a:srgbClr val="FFFFFF"/>
                      </a:solidFill>
                      <a:latin typeface="Arial" panose="020B0604020202020204"/>
                    </a:rPr>
                    <a:t>2</a:t>
                  </a:r>
                </a:p>
              </p:txBody>
            </p:sp>
          </p:grpSp>
        </p:grpSp>
        <p:cxnSp>
          <p:nvCxnSpPr>
            <p:cNvPr id="15" name="连接符: 肘形 14" descr="b84b5a68-d9ff-4767-9881-f241c1ed2083"/>
            <p:cNvCxnSpPr>
              <a:stCxn id="4" idx="2"/>
              <a:endCxn id="8" idx="0"/>
            </p:cNvCxnSpPr>
            <p:nvPr/>
          </p:nvCxnSpPr>
          <p:spPr>
            <a:xfrm rot="5400000">
              <a:off x="4351743" y="993335"/>
              <a:ext cx="880943" cy="2594873"/>
            </a:xfrm>
            <a:prstGeom prst="bentConnector3">
              <a:avLst/>
            </a:prstGeom>
            <a:ln>
              <a:solidFill>
                <a:schemeClr val="tx1">
                  <a:alpha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连接符: 肘形 16" descr="c950ec5e-1843-4013-8be2-71f08dc59800"/>
            <p:cNvCxnSpPr>
              <a:stCxn id="4" idx="2"/>
              <a:endCxn id="14" idx="0"/>
            </p:cNvCxnSpPr>
            <p:nvPr/>
          </p:nvCxnSpPr>
          <p:spPr>
            <a:xfrm rot="16200000" flipH="1">
              <a:off x="6946616" y="993334"/>
              <a:ext cx="880943" cy="2594874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alpha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 descr="986ed6b0-9799-47a5-a099-9370a275831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626AF8"/>
                </a:solidFill>
                <a:latin typeface="Arial" panose="020B0604020202020204"/>
              </a:rPr>
              <a:t>DHCP</a:t>
            </a:r>
            <a:r>
              <a:rPr lang="zh-CN" altLang="en-US" sz="2800" b="1" i="0" u="none">
                <a:solidFill>
                  <a:srgbClr val="626AF8"/>
                </a:solidFill>
                <a:latin typeface="Arial" panose="020B0604020202020204"/>
              </a:rPr>
              <a:t>服务器</a:t>
            </a:r>
            <a:r>
              <a:rPr lang="en-US" sz="2800" b="1" i="0" u="none">
                <a:solidFill>
                  <a:srgbClr val="626AF8"/>
                </a:solidFill>
                <a:latin typeface="Arial" panose="020B0604020202020204"/>
              </a:rPr>
              <a:t>部署</a:t>
            </a:r>
          </a:p>
        </p:txBody>
      </p:sp>
      <p:pic>
        <p:nvPicPr>
          <p:cNvPr id="18" name="图片 17"/>
          <p:cNvPicPr/>
          <p:nvPr/>
        </p:nvPicPr>
        <p:blipFill>
          <a:blip r:embed="rId2"/>
          <a:stretch>
            <a:fillRect/>
          </a:stretch>
        </p:blipFill>
        <p:spPr>
          <a:xfrm>
            <a:off x="1464924" y="3998469"/>
            <a:ext cx="4059705" cy="2859531"/>
          </a:xfrm>
          <a:prstGeom prst="rect">
            <a:avLst/>
          </a:prstGeom>
        </p:spPr>
      </p:pic>
      <p:pic>
        <p:nvPicPr>
          <p:cNvPr id="19" name="图片 18"/>
          <p:cNvPicPr/>
          <p:nvPr/>
        </p:nvPicPr>
        <p:blipFill>
          <a:blip r:embed="rId3"/>
          <a:stretch>
            <a:fillRect/>
          </a:stretch>
        </p:blipFill>
        <p:spPr>
          <a:xfrm>
            <a:off x="6430274" y="3998469"/>
            <a:ext cx="4168407" cy="285953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ad404355-d5e0-4ddf-9d21-a7f68e4b6800"/>
          <p:cNvSpPr txBox="1"/>
          <p:nvPr/>
        </p:nvSpPr>
        <p:spPr>
          <a:xfrm>
            <a:off x="669925" y="1140460"/>
            <a:ext cx="10836275" cy="724535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rmAutofit fontScale="90000" lnSpcReduction="10000"/>
          </a:bodyPr>
          <a:lstStyle>
            <a:defPPr>
              <a:defRPr lang="en-US"/>
            </a:defPPr>
            <a:lvl1pPr>
              <a:defRPr sz="2400" b="1"/>
            </a:lvl1pPr>
          </a:lstStyle>
          <a:p>
            <a:pPr algn="l"/>
            <a:r>
              <a:rPr lang="zh-CN" altLang="en-US" sz="2400" b="1" i="0" u="none">
                <a:solidFill>
                  <a:srgbClr val="000000"/>
                </a:solidFill>
                <a:ea typeface="微软雅黑" panose="020B0503020204020204" charset="-122"/>
              </a:rPr>
              <a:t>使用</a:t>
            </a:r>
            <a:r>
              <a:rPr lang="en-US" altLang="zh-CN" sz="2400" b="1" i="0" u="none">
                <a:solidFill>
                  <a:srgbClr val="000000"/>
                </a:solidFill>
                <a:ea typeface="微软雅黑" panose="020B0503020204020204" charset="-122"/>
              </a:rPr>
              <a:t>Ansible</a:t>
            </a:r>
            <a:r>
              <a:rPr lang="zh-CN" altLang="en-US" sz="2400" b="1" i="0" u="none">
                <a:solidFill>
                  <a:srgbClr val="000000"/>
                </a:solidFill>
                <a:ea typeface="微软雅黑" panose="020B0503020204020204" charset="-122"/>
              </a:rPr>
              <a:t>测试</a:t>
            </a:r>
            <a:r>
              <a:rPr lang="en-US" altLang="zh-CN" sz="2400" b="1" i="0" u="none">
                <a:solidFill>
                  <a:srgbClr val="000000"/>
                </a:solidFill>
                <a:ea typeface="微软雅黑" panose="020B0503020204020204" charset="-122"/>
              </a:rPr>
              <a:t>DHCP</a:t>
            </a:r>
            <a:r>
              <a:rPr lang="zh-CN" altLang="en-US" sz="2400" b="1" i="0" u="none">
                <a:solidFill>
                  <a:srgbClr val="000000"/>
                </a:solidFill>
                <a:ea typeface="微软雅黑" panose="020B0503020204020204" charset="-122"/>
              </a:rPr>
              <a:t>客户机的功能，确保</a:t>
            </a:r>
            <a:r>
              <a:rPr lang="en-US" altLang="zh-CN" sz="2400" b="1" i="0" u="none">
                <a:solidFill>
                  <a:srgbClr val="000000"/>
                </a:solidFill>
                <a:ea typeface="微软雅黑" panose="020B0503020204020204" charset="-122"/>
              </a:rPr>
              <a:t>DHCP</a:t>
            </a:r>
            <a:r>
              <a:rPr lang="zh-CN" altLang="en-US" sz="2400" b="1" i="0" u="none">
                <a:solidFill>
                  <a:srgbClr val="000000"/>
                </a:solidFill>
                <a:ea typeface="微软雅黑" panose="020B0503020204020204" charset="-122"/>
              </a:rPr>
              <a:t>客户机能够自动获取</a:t>
            </a:r>
            <a:r>
              <a:rPr lang="en-US" altLang="zh-CN" sz="2400" b="1" i="0" u="none">
                <a:solidFill>
                  <a:srgbClr val="000000"/>
                </a:solidFill>
                <a:ea typeface="微软雅黑" panose="020B0503020204020204" charset="-122"/>
              </a:rPr>
              <a:t>IP</a:t>
            </a:r>
            <a:r>
              <a:rPr lang="zh-CN" altLang="en-US" sz="2400" b="1" i="0" u="none">
                <a:solidFill>
                  <a:srgbClr val="000000"/>
                </a:solidFill>
                <a:ea typeface="微软雅黑" panose="020B0503020204020204" charset="-122"/>
              </a:rPr>
              <a:t>地址和网络配置信息。</a:t>
            </a:r>
          </a:p>
        </p:txBody>
      </p:sp>
      <p:sp>
        <p:nvSpPr>
          <p:cNvPr id="9" name="标题 8" descr="986ed6b0-9799-47a5-a099-9370a275831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>
                <a:solidFill>
                  <a:srgbClr val="626AF8"/>
                </a:solidFill>
                <a:ea typeface="微软雅黑" panose="020B0503020204020204" charset="-122"/>
              </a:rPr>
              <a:t>测试</a:t>
            </a:r>
            <a:r>
              <a:rPr lang="en-US" altLang="zh-CN" sz="2800" b="1" i="0" u="none">
                <a:solidFill>
                  <a:srgbClr val="626AF8"/>
                </a:solidFill>
                <a:ea typeface="微软雅黑" panose="020B0503020204020204" charset="-122"/>
              </a:rPr>
              <a:t>DHCP</a:t>
            </a:r>
          </a:p>
        </p:txBody>
      </p:sp>
      <p:pic>
        <p:nvPicPr>
          <p:cNvPr id="18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595" y="1731010"/>
            <a:ext cx="5274310" cy="5126990"/>
          </a:xfrm>
          <a:prstGeom prst="rect">
            <a:avLst/>
          </a:prstGeom>
        </p:spPr>
      </p:pic>
      <p:sp>
        <p:nvSpPr>
          <p:cNvPr id="17" name="Text1" descr="477aa051-2adf-46ba-9ba6-883a036d8b2d"/>
          <p:cNvSpPr/>
          <p:nvPr/>
        </p:nvSpPr>
        <p:spPr>
          <a:xfrm>
            <a:off x="803012" y="2638517"/>
            <a:ext cx="4508500" cy="2345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b="0" i="0" u="none">
                <a:solidFill>
                  <a:srgbClr val="000000"/>
                </a:solidFill>
                <a:ea typeface="微软雅黑" panose="020B0503020204020204" charset="-122"/>
              </a:rPr>
              <a:t>在</a:t>
            </a:r>
            <a:r>
              <a:rPr lang="en-US" altLang="zh-CN" b="0" i="0" u="none">
                <a:solidFill>
                  <a:srgbClr val="000000"/>
                </a:solidFill>
                <a:ea typeface="微软雅黑" panose="020B0503020204020204" charset="-122"/>
              </a:rPr>
              <a:t>Ansible</a:t>
            </a:r>
            <a:r>
              <a:rPr lang="zh-CN" altLang="en-US" b="0" i="0" u="none">
                <a:solidFill>
                  <a:srgbClr val="000000"/>
                </a:solidFill>
                <a:ea typeface="微软雅黑" panose="020B0503020204020204" charset="-122"/>
              </a:rPr>
              <a:t>控制节点上执行命令，运行</a:t>
            </a:r>
            <a:r>
              <a:rPr lang="en-US" altLang="zh-CN" b="0" i="0" u="none">
                <a:solidFill>
                  <a:srgbClr val="000000"/>
                </a:solidFill>
                <a:ea typeface="微软雅黑" panose="020B0503020204020204" charset="-122"/>
              </a:rPr>
              <a:t>dhcp_client_setup.yml</a:t>
            </a:r>
          </a:p>
        </p:txBody>
      </p:sp>
      <p:sp>
        <p:nvSpPr>
          <p:cNvPr id="19" name="Bullet1" descr="4c99a19b-66f3-42c6-b155-98d97e2b9faf"/>
          <p:cNvSpPr/>
          <p:nvPr/>
        </p:nvSpPr>
        <p:spPr>
          <a:xfrm>
            <a:off x="803275" y="2530475"/>
            <a:ext cx="3988435" cy="100647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l">
              <a:lnSpc>
                <a:spcPct val="120000"/>
              </a:lnSpc>
            </a:pPr>
            <a:endParaRPr lang="en-US" sz="1800" b="1" i="0" u="none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20" name="直接连接符 19"/>
          <p:cNvCxnSpPr>
            <a:stCxn id="19" idx="3"/>
          </p:cNvCxnSpPr>
          <p:nvPr/>
        </p:nvCxnSpPr>
        <p:spPr>
          <a:xfrm>
            <a:off x="4791710" y="3034030"/>
            <a:ext cx="2150745" cy="19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标题 24" descr="7f0ea7ff-6ece-4b88-b112-01279104e764"/>
          <p:cNvSpPr>
            <a:spLocks noGrp="1"/>
          </p:cNvSpPr>
          <p:nvPr>
            <p:ph type="title" sz="quarter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200" b="1" i="0" u="none">
                <a:solidFill>
                  <a:srgbClr val="FFFFFF"/>
                </a:solidFill>
                <a:latin typeface="Arial" panose="020B0604020202020204"/>
              </a:rPr>
              <a:t>Docker容器化实践</a:t>
            </a:r>
          </a:p>
        </p:txBody>
      </p:sp>
      <p:sp>
        <p:nvSpPr>
          <p:cNvPr id="5" name="文本占位符 4" descr="b0e1de57-aa6c-49fa-971a-1b7e0077aa68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1600" b="0" i="0" u="none">
                <a:solidFill>
                  <a:srgbClr val="FFFFFF"/>
                </a:solidFill>
                <a:ea typeface="微软雅黑" panose="020B0503020204020204" charset="-122"/>
              </a:rPr>
              <a:t>本章节探索容器化技术在数据中心的应用，使用Ansible批量部署Docker环境，并利用容器快速部署应用与进行可视化管理。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de3a87bc-8546-4daf-b3e4-d3e35f38c61f.source.2.zh-Hans.pptx" descr="a343a518-ffab-494e-b233-9cc030403d37"/>
          <p:cNvGrpSpPr/>
          <p:nvPr/>
        </p:nvGrpSpPr>
        <p:grpSpPr>
          <a:xfrm>
            <a:off x="140970" y="1471295"/>
            <a:ext cx="7782360" cy="6050597"/>
            <a:chOff x="140970" y="1471295"/>
            <a:chExt cx="7782360" cy="6050597"/>
          </a:xfrm>
        </p:grpSpPr>
        <p:sp>
          <p:nvSpPr>
            <p:cNvPr id="13" name="弧形 12" descr="a812895f-a60c-4627-870b-c8f254359f13"/>
            <p:cNvSpPr/>
            <p:nvPr/>
          </p:nvSpPr>
          <p:spPr>
            <a:xfrm>
              <a:off x="140970" y="1471295"/>
              <a:ext cx="4321810" cy="4321810"/>
            </a:xfrm>
            <a:prstGeom prst="arc">
              <a:avLst>
                <a:gd name="adj1" fmla="val 16200000"/>
                <a:gd name="adj2" fmla="val 5422308"/>
              </a:avLst>
            </a:prstGeom>
            <a:ln cap="rnd"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 anchorCtr="0"/>
            <a:lstStyle/>
            <a:p>
              <a:pPr algn="ctr"/>
              <a:endParaRPr/>
            </a:p>
          </p:txBody>
        </p:sp>
        <p:sp>
          <p:nvSpPr>
            <p:cNvPr id="104" name="islide-6" descr="7d852606-6279-45e3-a3ae-cdc18324f57d"/>
            <p:cNvSpPr/>
            <p:nvPr/>
          </p:nvSpPr>
          <p:spPr>
            <a:xfrm>
              <a:off x="646271" y="1880970"/>
              <a:ext cx="3491466" cy="34759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381" y="0"/>
                  </a:moveTo>
                  <a:cubicBezTo>
                    <a:pt x="9370" y="0"/>
                    <a:pt x="9235" y="27"/>
                    <a:pt x="9073" y="54"/>
                  </a:cubicBezTo>
                  <a:lnTo>
                    <a:pt x="7467" y="445"/>
                  </a:lnTo>
                  <a:cubicBezTo>
                    <a:pt x="7389" y="469"/>
                    <a:pt x="7315" y="489"/>
                    <a:pt x="7261" y="505"/>
                  </a:cubicBezTo>
                  <a:cubicBezTo>
                    <a:pt x="7206" y="521"/>
                    <a:pt x="7171" y="532"/>
                    <a:pt x="7165" y="535"/>
                  </a:cubicBezTo>
                  <a:cubicBezTo>
                    <a:pt x="7162" y="537"/>
                    <a:pt x="7158" y="573"/>
                    <a:pt x="7156" y="628"/>
                  </a:cubicBezTo>
                  <a:cubicBezTo>
                    <a:pt x="7154" y="683"/>
                    <a:pt x="7153" y="757"/>
                    <a:pt x="7153" y="838"/>
                  </a:cubicBezTo>
                  <a:lnTo>
                    <a:pt x="7165" y="1760"/>
                  </a:lnTo>
                  <a:cubicBezTo>
                    <a:pt x="7165" y="1841"/>
                    <a:pt x="7135" y="1932"/>
                    <a:pt x="7087" y="2010"/>
                  </a:cubicBezTo>
                  <a:cubicBezTo>
                    <a:pt x="7039" y="2088"/>
                    <a:pt x="6972" y="2155"/>
                    <a:pt x="6899" y="2190"/>
                  </a:cubicBezTo>
                  <a:lnTo>
                    <a:pt x="6151" y="2574"/>
                  </a:lnTo>
                  <a:cubicBezTo>
                    <a:pt x="6079" y="2615"/>
                    <a:pt x="5985" y="2630"/>
                    <a:pt x="5894" y="2625"/>
                  </a:cubicBezTo>
                  <a:cubicBezTo>
                    <a:pt x="5803" y="2621"/>
                    <a:pt x="5714" y="2596"/>
                    <a:pt x="5649" y="2547"/>
                  </a:cubicBezTo>
                  <a:lnTo>
                    <a:pt x="4898" y="2010"/>
                  </a:lnTo>
                  <a:cubicBezTo>
                    <a:pt x="4763" y="1912"/>
                    <a:pt x="4650" y="1842"/>
                    <a:pt x="4644" y="1847"/>
                  </a:cubicBezTo>
                  <a:cubicBezTo>
                    <a:pt x="4639" y="1853"/>
                    <a:pt x="4525" y="1940"/>
                    <a:pt x="4396" y="2043"/>
                  </a:cubicBezTo>
                  <a:lnTo>
                    <a:pt x="3161" y="3115"/>
                  </a:lnTo>
                  <a:cubicBezTo>
                    <a:pt x="3042" y="3229"/>
                    <a:pt x="2939" y="3326"/>
                    <a:pt x="2934" y="3331"/>
                  </a:cubicBezTo>
                  <a:cubicBezTo>
                    <a:pt x="2928" y="3337"/>
                    <a:pt x="2990" y="3461"/>
                    <a:pt x="3065" y="3608"/>
                  </a:cubicBezTo>
                  <a:lnTo>
                    <a:pt x="3490" y="4401"/>
                  </a:lnTo>
                  <a:cubicBezTo>
                    <a:pt x="3528" y="4474"/>
                    <a:pt x="3542" y="4566"/>
                    <a:pt x="3535" y="4656"/>
                  </a:cubicBezTo>
                  <a:cubicBezTo>
                    <a:pt x="3528" y="4746"/>
                    <a:pt x="3499" y="4834"/>
                    <a:pt x="3448" y="4899"/>
                  </a:cubicBezTo>
                  <a:lnTo>
                    <a:pt x="2907" y="5647"/>
                  </a:lnTo>
                  <a:cubicBezTo>
                    <a:pt x="2861" y="5715"/>
                    <a:pt x="2786" y="5774"/>
                    <a:pt x="2703" y="5812"/>
                  </a:cubicBezTo>
                  <a:cubicBezTo>
                    <a:pt x="2620" y="5851"/>
                    <a:pt x="2530" y="5868"/>
                    <a:pt x="2449" y="5857"/>
                  </a:cubicBezTo>
                  <a:lnTo>
                    <a:pt x="1546" y="5737"/>
                  </a:lnTo>
                  <a:cubicBezTo>
                    <a:pt x="1384" y="5715"/>
                    <a:pt x="1249" y="5705"/>
                    <a:pt x="1244" y="5710"/>
                  </a:cubicBezTo>
                  <a:cubicBezTo>
                    <a:pt x="1239" y="5716"/>
                    <a:pt x="1180" y="5847"/>
                    <a:pt x="1109" y="5998"/>
                  </a:cubicBezTo>
                  <a:lnTo>
                    <a:pt x="517" y="7482"/>
                  </a:lnTo>
                  <a:cubicBezTo>
                    <a:pt x="490" y="7561"/>
                    <a:pt x="464" y="7635"/>
                    <a:pt x="446" y="7690"/>
                  </a:cubicBezTo>
                  <a:cubicBezTo>
                    <a:pt x="427" y="7744"/>
                    <a:pt x="415" y="7777"/>
                    <a:pt x="413" y="7780"/>
                  </a:cubicBezTo>
                  <a:cubicBezTo>
                    <a:pt x="413" y="7785"/>
                    <a:pt x="441" y="7810"/>
                    <a:pt x="484" y="7843"/>
                  </a:cubicBezTo>
                  <a:cubicBezTo>
                    <a:pt x="528" y="7876"/>
                    <a:pt x="590" y="7920"/>
                    <a:pt x="658" y="7966"/>
                  </a:cubicBezTo>
                  <a:lnTo>
                    <a:pt x="1379" y="8453"/>
                  </a:lnTo>
                  <a:cubicBezTo>
                    <a:pt x="1446" y="8499"/>
                    <a:pt x="1503" y="8574"/>
                    <a:pt x="1537" y="8657"/>
                  </a:cubicBezTo>
                  <a:cubicBezTo>
                    <a:pt x="1571" y="8740"/>
                    <a:pt x="1586" y="8834"/>
                    <a:pt x="1570" y="8915"/>
                  </a:cubicBezTo>
                  <a:lnTo>
                    <a:pt x="1417" y="9942"/>
                  </a:lnTo>
                  <a:cubicBezTo>
                    <a:pt x="1409" y="10024"/>
                    <a:pt x="1373" y="10112"/>
                    <a:pt x="1316" y="10186"/>
                  </a:cubicBezTo>
                  <a:cubicBezTo>
                    <a:pt x="1259" y="10259"/>
                    <a:pt x="1185" y="10318"/>
                    <a:pt x="1106" y="10345"/>
                  </a:cubicBezTo>
                  <a:lnTo>
                    <a:pt x="278" y="10648"/>
                  </a:lnTo>
                  <a:cubicBezTo>
                    <a:pt x="122" y="10703"/>
                    <a:pt x="0" y="10758"/>
                    <a:pt x="0" y="10768"/>
                  </a:cubicBezTo>
                  <a:cubicBezTo>
                    <a:pt x="0" y="10779"/>
                    <a:pt x="4" y="10918"/>
                    <a:pt x="15" y="11081"/>
                  </a:cubicBezTo>
                  <a:lnTo>
                    <a:pt x="164" y="12628"/>
                  </a:lnTo>
                  <a:cubicBezTo>
                    <a:pt x="178" y="12709"/>
                    <a:pt x="189" y="12784"/>
                    <a:pt x="197" y="12841"/>
                  </a:cubicBezTo>
                  <a:cubicBezTo>
                    <a:pt x="206" y="12898"/>
                    <a:pt x="213" y="12935"/>
                    <a:pt x="215" y="12940"/>
                  </a:cubicBezTo>
                  <a:cubicBezTo>
                    <a:pt x="215" y="12946"/>
                    <a:pt x="248" y="12955"/>
                    <a:pt x="302" y="12964"/>
                  </a:cubicBezTo>
                  <a:cubicBezTo>
                    <a:pt x="357" y="12973"/>
                    <a:pt x="434" y="12983"/>
                    <a:pt x="517" y="12991"/>
                  </a:cubicBezTo>
                  <a:lnTo>
                    <a:pt x="1352" y="13081"/>
                  </a:lnTo>
                  <a:cubicBezTo>
                    <a:pt x="1433" y="13089"/>
                    <a:pt x="1519" y="13131"/>
                    <a:pt x="1588" y="13189"/>
                  </a:cubicBezTo>
                  <a:cubicBezTo>
                    <a:pt x="1657" y="13248"/>
                    <a:pt x="1710" y="13324"/>
                    <a:pt x="1734" y="13403"/>
                  </a:cubicBezTo>
                  <a:lnTo>
                    <a:pt x="2120" y="14502"/>
                  </a:lnTo>
                  <a:cubicBezTo>
                    <a:pt x="2150" y="14578"/>
                    <a:pt x="2155" y="14672"/>
                    <a:pt x="2138" y="14763"/>
                  </a:cubicBezTo>
                  <a:cubicBezTo>
                    <a:pt x="2122" y="14854"/>
                    <a:pt x="2084" y="14941"/>
                    <a:pt x="2028" y="15001"/>
                  </a:cubicBezTo>
                  <a:lnTo>
                    <a:pt x="1456" y="15626"/>
                  </a:lnTo>
                  <a:cubicBezTo>
                    <a:pt x="1348" y="15745"/>
                    <a:pt x="1257" y="15851"/>
                    <a:pt x="1262" y="15857"/>
                  </a:cubicBezTo>
                  <a:cubicBezTo>
                    <a:pt x="1267" y="15862"/>
                    <a:pt x="1337" y="15986"/>
                    <a:pt x="1423" y="16127"/>
                  </a:cubicBezTo>
                  <a:lnTo>
                    <a:pt x="2255" y="17380"/>
                  </a:lnTo>
                  <a:cubicBezTo>
                    <a:pt x="2303" y="17445"/>
                    <a:pt x="2349" y="17508"/>
                    <a:pt x="2383" y="17554"/>
                  </a:cubicBezTo>
                  <a:cubicBezTo>
                    <a:pt x="2418" y="17600"/>
                    <a:pt x="2441" y="17630"/>
                    <a:pt x="2443" y="17635"/>
                  </a:cubicBezTo>
                  <a:cubicBezTo>
                    <a:pt x="2446" y="17638"/>
                    <a:pt x="2481" y="17629"/>
                    <a:pt x="2533" y="17611"/>
                  </a:cubicBezTo>
                  <a:cubicBezTo>
                    <a:pt x="2585" y="17593"/>
                    <a:pt x="2655" y="17566"/>
                    <a:pt x="2730" y="17536"/>
                  </a:cubicBezTo>
                  <a:lnTo>
                    <a:pt x="3490" y="17233"/>
                  </a:lnTo>
                  <a:cubicBezTo>
                    <a:pt x="3565" y="17203"/>
                    <a:pt x="3659" y="17199"/>
                    <a:pt x="3747" y="17218"/>
                  </a:cubicBezTo>
                  <a:cubicBezTo>
                    <a:pt x="3835" y="17236"/>
                    <a:pt x="3918" y="17278"/>
                    <a:pt x="3974" y="17338"/>
                  </a:cubicBezTo>
                  <a:lnTo>
                    <a:pt x="4904" y="18194"/>
                  </a:lnTo>
                  <a:cubicBezTo>
                    <a:pt x="4966" y="18245"/>
                    <a:pt x="5014" y="18326"/>
                    <a:pt x="5042" y="18413"/>
                  </a:cubicBezTo>
                  <a:cubicBezTo>
                    <a:pt x="5070" y="18500"/>
                    <a:pt x="5079" y="18593"/>
                    <a:pt x="5060" y="18674"/>
                  </a:cubicBezTo>
                  <a:lnTo>
                    <a:pt x="4851" y="19476"/>
                  </a:lnTo>
                  <a:cubicBezTo>
                    <a:pt x="4807" y="19634"/>
                    <a:pt x="4779" y="19771"/>
                    <a:pt x="4785" y="19777"/>
                  </a:cubicBezTo>
                  <a:cubicBezTo>
                    <a:pt x="4790" y="19782"/>
                    <a:pt x="4914" y="19852"/>
                    <a:pt x="5054" y="19939"/>
                  </a:cubicBezTo>
                  <a:lnTo>
                    <a:pt x="6343" y="20633"/>
                  </a:lnTo>
                  <a:cubicBezTo>
                    <a:pt x="6416" y="20668"/>
                    <a:pt x="6485" y="20702"/>
                    <a:pt x="6537" y="20726"/>
                  </a:cubicBezTo>
                  <a:cubicBezTo>
                    <a:pt x="6589" y="20750"/>
                    <a:pt x="6624" y="20765"/>
                    <a:pt x="6630" y="20768"/>
                  </a:cubicBezTo>
                  <a:cubicBezTo>
                    <a:pt x="6633" y="20771"/>
                    <a:pt x="6660" y="20746"/>
                    <a:pt x="6699" y="20705"/>
                  </a:cubicBezTo>
                  <a:cubicBezTo>
                    <a:pt x="6737" y="20664"/>
                    <a:pt x="6788" y="20608"/>
                    <a:pt x="6842" y="20546"/>
                  </a:cubicBezTo>
                  <a:lnTo>
                    <a:pt x="7368" y="19933"/>
                  </a:lnTo>
                  <a:cubicBezTo>
                    <a:pt x="7422" y="19871"/>
                    <a:pt x="7506" y="19823"/>
                    <a:pt x="7593" y="19798"/>
                  </a:cubicBezTo>
                  <a:cubicBezTo>
                    <a:pt x="7680" y="19772"/>
                    <a:pt x="7772" y="19767"/>
                    <a:pt x="7850" y="19792"/>
                  </a:cubicBezTo>
                  <a:lnTo>
                    <a:pt x="9136" y="20119"/>
                  </a:lnTo>
                  <a:cubicBezTo>
                    <a:pt x="9217" y="20135"/>
                    <a:pt x="9298" y="20182"/>
                    <a:pt x="9363" y="20245"/>
                  </a:cubicBezTo>
                  <a:cubicBezTo>
                    <a:pt x="9428" y="20309"/>
                    <a:pt x="9476" y="20389"/>
                    <a:pt x="9495" y="20471"/>
                  </a:cubicBezTo>
                  <a:lnTo>
                    <a:pt x="9680" y="21261"/>
                  </a:lnTo>
                  <a:cubicBezTo>
                    <a:pt x="9718" y="21423"/>
                    <a:pt x="9755" y="21555"/>
                    <a:pt x="9761" y="21555"/>
                  </a:cubicBezTo>
                  <a:cubicBezTo>
                    <a:pt x="9766" y="21555"/>
                    <a:pt x="9910" y="21562"/>
                    <a:pt x="10072" y="21573"/>
                  </a:cubicBezTo>
                  <a:lnTo>
                    <a:pt x="10499" y="21597"/>
                  </a:lnTo>
                  <a:cubicBezTo>
                    <a:pt x="10580" y="21600"/>
                    <a:pt x="10687" y="21600"/>
                    <a:pt x="10796" y="21600"/>
                  </a:cubicBezTo>
                  <a:cubicBezTo>
                    <a:pt x="10904" y="21600"/>
                    <a:pt x="11014" y="21600"/>
                    <a:pt x="11098" y="21597"/>
                  </a:cubicBezTo>
                  <a:lnTo>
                    <a:pt x="11525" y="21573"/>
                  </a:lnTo>
                  <a:cubicBezTo>
                    <a:pt x="11687" y="21562"/>
                    <a:pt x="11825" y="21555"/>
                    <a:pt x="11836" y="21555"/>
                  </a:cubicBezTo>
                  <a:cubicBezTo>
                    <a:pt x="11847" y="21555"/>
                    <a:pt x="11882" y="21418"/>
                    <a:pt x="11920" y="21261"/>
                  </a:cubicBezTo>
                  <a:lnTo>
                    <a:pt x="12102" y="20471"/>
                  </a:lnTo>
                  <a:cubicBezTo>
                    <a:pt x="12121" y="20389"/>
                    <a:pt x="12172" y="20309"/>
                    <a:pt x="12237" y="20245"/>
                  </a:cubicBezTo>
                  <a:cubicBezTo>
                    <a:pt x="12302" y="20182"/>
                    <a:pt x="12383" y="20135"/>
                    <a:pt x="12464" y="20119"/>
                  </a:cubicBezTo>
                  <a:lnTo>
                    <a:pt x="13747" y="19792"/>
                  </a:lnTo>
                  <a:cubicBezTo>
                    <a:pt x="13825" y="19767"/>
                    <a:pt x="13918" y="19772"/>
                    <a:pt x="14004" y="19798"/>
                  </a:cubicBezTo>
                  <a:cubicBezTo>
                    <a:pt x="14091" y="19823"/>
                    <a:pt x="14172" y="19871"/>
                    <a:pt x="14226" y="19933"/>
                  </a:cubicBezTo>
                  <a:lnTo>
                    <a:pt x="14755" y="20546"/>
                  </a:lnTo>
                  <a:cubicBezTo>
                    <a:pt x="14809" y="20608"/>
                    <a:pt x="14861" y="20662"/>
                    <a:pt x="14898" y="20702"/>
                  </a:cubicBezTo>
                  <a:cubicBezTo>
                    <a:pt x="14936" y="20742"/>
                    <a:pt x="14962" y="20768"/>
                    <a:pt x="14967" y="20768"/>
                  </a:cubicBezTo>
                  <a:cubicBezTo>
                    <a:pt x="14970" y="20765"/>
                    <a:pt x="15002" y="20750"/>
                    <a:pt x="15054" y="20726"/>
                  </a:cubicBezTo>
                  <a:cubicBezTo>
                    <a:pt x="15106" y="20702"/>
                    <a:pt x="15176" y="20668"/>
                    <a:pt x="15251" y="20633"/>
                  </a:cubicBezTo>
                  <a:lnTo>
                    <a:pt x="16543" y="19939"/>
                  </a:lnTo>
                  <a:cubicBezTo>
                    <a:pt x="16613" y="19896"/>
                    <a:pt x="16677" y="19857"/>
                    <a:pt x="16726" y="19828"/>
                  </a:cubicBezTo>
                  <a:cubicBezTo>
                    <a:pt x="16774" y="19799"/>
                    <a:pt x="16807" y="19779"/>
                    <a:pt x="16812" y="19777"/>
                  </a:cubicBezTo>
                  <a:cubicBezTo>
                    <a:pt x="16815" y="19774"/>
                    <a:pt x="16809" y="19738"/>
                    <a:pt x="16797" y="19684"/>
                  </a:cubicBezTo>
                  <a:cubicBezTo>
                    <a:pt x="16786" y="19629"/>
                    <a:pt x="16768" y="19555"/>
                    <a:pt x="16747" y="19476"/>
                  </a:cubicBezTo>
                  <a:lnTo>
                    <a:pt x="16537" y="18674"/>
                  </a:lnTo>
                  <a:cubicBezTo>
                    <a:pt x="16516" y="18596"/>
                    <a:pt x="16521" y="18503"/>
                    <a:pt x="16549" y="18416"/>
                  </a:cubicBezTo>
                  <a:cubicBezTo>
                    <a:pt x="16578" y="18329"/>
                    <a:pt x="16628" y="18248"/>
                    <a:pt x="16693" y="18194"/>
                  </a:cubicBezTo>
                  <a:lnTo>
                    <a:pt x="17620" y="17338"/>
                  </a:lnTo>
                  <a:cubicBezTo>
                    <a:pt x="17676" y="17278"/>
                    <a:pt x="17762" y="17236"/>
                    <a:pt x="17850" y="17218"/>
                  </a:cubicBezTo>
                  <a:cubicBezTo>
                    <a:pt x="17938" y="17199"/>
                    <a:pt x="18032" y="17203"/>
                    <a:pt x="18107" y="17233"/>
                  </a:cubicBezTo>
                  <a:lnTo>
                    <a:pt x="18867" y="17536"/>
                  </a:lnTo>
                  <a:cubicBezTo>
                    <a:pt x="19018" y="17596"/>
                    <a:pt x="19148" y="17640"/>
                    <a:pt x="19154" y="17635"/>
                  </a:cubicBezTo>
                  <a:cubicBezTo>
                    <a:pt x="19159" y="17630"/>
                    <a:pt x="19245" y="17515"/>
                    <a:pt x="19342" y="17380"/>
                  </a:cubicBezTo>
                  <a:lnTo>
                    <a:pt x="20174" y="16127"/>
                  </a:lnTo>
                  <a:cubicBezTo>
                    <a:pt x="20260" y="15986"/>
                    <a:pt x="20330" y="15862"/>
                    <a:pt x="20335" y="15857"/>
                  </a:cubicBezTo>
                  <a:cubicBezTo>
                    <a:pt x="20340" y="15851"/>
                    <a:pt x="20254" y="15745"/>
                    <a:pt x="20141" y="15626"/>
                  </a:cubicBezTo>
                  <a:lnTo>
                    <a:pt x="19569" y="14989"/>
                  </a:lnTo>
                  <a:cubicBezTo>
                    <a:pt x="19516" y="14929"/>
                    <a:pt x="19479" y="14842"/>
                    <a:pt x="19462" y="14751"/>
                  </a:cubicBezTo>
                  <a:cubicBezTo>
                    <a:pt x="19445" y="14661"/>
                    <a:pt x="19447" y="14566"/>
                    <a:pt x="19477" y="14490"/>
                  </a:cubicBezTo>
                  <a:lnTo>
                    <a:pt x="19860" y="13391"/>
                  </a:lnTo>
                  <a:cubicBezTo>
                    <a:pt x="19884" y="13312"/>
                    <a:pt x="19940" y="13235"/>
                    <a:pt x="20009" y="13177"/>
                  </a:cubicBezTo>
                  <a:cubicBezTo>
                    <a:pt x="20078" y="13120"/>
                    <a:pt x="20161" y="13080"/>
                    <a:pt x="20242" y="13072"/>
                  </a:cubicBezTo>
                  <a:lnTo>
                    <a:pt x="21080" y="12979"/>
                  </a:lnTo>
                  <a:cubicBezTo>
                    <a:pt x="21161" y="12971"/>
                    <a:pt x="21234" y="12961"/>
                    <a:pt x="21289" y="12952"/>
                  </a:cubicBezTo>
                  <a:cubicBezTo>
                    <a:pt x="21344" y="12943"/>
                    <a:pt x="21379" y="12937"/>
                    <a:pt x="21382" y="12931"/>
                  </a:cubicBezTo>
                  <a:cubicBezTo>
                    <a:pt x="21382" y="12926"/>
                    <a:pt x="21388" y="12888"/>
                    <a:pt x="21397" y="12832"/>
                  </a:cubicBezTo>
                  <a:cubicBezTo>
                    <a:pt x="21405" y="12776"/>
                    <a:pt x="21416" y="12700"/>
                    <a:pt x="21430" y="12616"/>
                  </a:cubicBezTo>
                  <a:lnTo>
                    <a:pt x="21582" y="11072"/>
                  </a:lnTo>
                  <a:cubicBezTo>
                    <a:pt x="21587" y="10991"/>
                    <a:pt x="21591" y="10916"/>
                    <a:pt x="21594" y="10859"/>
                  </a:cubicBezTo>
                  <a:cubicBezTo>
                    <a:pt x="21597" y="10801"/>
                    <a:pt x="21600" y="10762"/>
                    <a:pt x="21600" y="10756"/>
                  </a:cubicBezTo>
                  <a:cubicBezTo>
                    <a:pt x="21592" y="10756"/>
                    <a:pt x="21557" y="10744"/>
                    <a:pt x="21504" y="10723"/>
                  </a:cubicBezTo>
                  <a:cubicBezTo>
                    <a:pt x="21452" y="10703"/>
                    <a:pt x="21379" y="10675"/>
                    <a:pt x="21301" y="10648"/>
                  </a:cubicBezTo>
                  <a:lnTo>
                    <a:pt x="20476" y="10345"/>
                  </a:lnTo>
                  <a:cubicBezTo>
                    <a:pt x="20397" y="10318"/>
                    <a:pt x="20323" y="10259"/>
                    <a:pt x="20266" y="10186"/>
                  </a:cubicBezTo>
                  <a:cubicBezTo>
                    <a:pt x="20209" y="10112"/>
                    <a:pt x="20170" y="10024"/>
                    <a:pt x="20162" y="9942"/>
                  </a:cubicBezTo>
                  <a:lnTo>
                    <a:pt x="20012" y="8915"/>
                  </a:lnTo>
                  <a:cubicBezTo>
                    <a:pt x="19996" y="8834"/>
                    <a:pt x="20011" y="8740"/>
                    <a:pt x="20045" y="8657"/>
                  </a:cubicBezTo>
                  <a:cubicBezTo>
                    <a:pt x="20079" y="8573"/>
                    <a:pt x="20133" y="8499"/>
                    <a:pt x="20200" y="8453"/>
                  </a:cubicBezTo>
                  <a:lnTo>
                    <a:pt x="20924" y="7966"/>
                  </a:lnTo>
                  <a:cubicBezTo>
                    <a:pt x="20992" y="7920"/>
                    <a:pt x="21053" y="7876"/>
                    <a:pt x="21098" y="7843"/>
                  </a:cubicBezTo>
                  <a:cubicBezTo>
                    <a:pt x="21142" y="7810"/>
                    <a:pt x="21169" y="7785"/>
                    <a:pt x="21166" y="7780"/>
                  </a:cubicBezTo>
                  <a:cubicBezTo>
                    <a:pt x="21166" y="7774"/>
                    <a:pt x="21155" y="7740"/>
                    <a:pt x="21136" y="7687"/>
                  </a:cubicBezTo>
                  <a:cubicBezTo>
                    <a:pt x="21118" y="7633"/>
                    <a:pt x="21092" y="7561"/>
                    <a:pt x="21065" y="7482"/>
                  </a:cubicBezTo>
                  <a:lnTo>
                    <a:pt x="20470" y="5998"/>
                  </a:lnTo>
                  <a:cubicBezTo>
                    <a:pt x="20399" y="5847"/>
                    <a:pt x="20340" y="5721"/>
                    <a:pt x="20335" y="5710"/>
                  </a:cubicBezTo>
                  <a:cubicBezTo>
                    <a:pt x="20330" y="5699"/>
                    <a:pt x="20195" y="5715"/>
                    <a:pt x="20033" y="5737"/>
                  </a:cubicBezTo>
                  <a:lnTo>
                    <a:pt x="19133" y="5857"/>
                  </a:lnTo>
                  <a:cubicBezTo>
                    <a:pt x="19052" y="5868"/>
                    <a:pt x="18959" y="5850"/>
                    <a:pt x="18876" y="5812"/>
                  </a:cubicBezTo>
                  <a:cubicBezTo>
                    <a:pt x="18792" y="5775"/>
                    <a:pt x="18716" y="5718"/>
                    <a:pt x="18672" y="5647"/>
                  </a:cubicBezTo>
                  <a:lnTo>
                    <a:pt x="18134" y="4899"/>
                  </a:lnTo>
                  <a:cubicBezTo>
                    <a:pt x="18083" y="4834"/>
                    <a:pt x="18055" y="4746"/>
                    <a:pt x="18047" y="4656"/>
                  </a:cubicBezTo>
                  <a:cubicBezTo>
                    <a:pt x="18040" y="4566"/>
                    <a:pt x="18054" y="4474"/>
                    <a:pt x="18092" y="4401"/>
                  </a:cubicBezTo>
                  <a:lnTo>
                    <a:pt x="18517" y="3608"/>
                  </a:lnTo>
                  <a:cubicBezTo>
                    <a:pt x="18592" y="3461"/>
                    <a:pt x="18651" y="3337"/>
                    <a:pt x="18645" y="3331"/>
                  </a:cubicBezTo>
                  <a:cubicBezTo>
                    <a:pt x="18640" y="3326"/>
                    <a:pt x="18540" y="3229"/>
                    <a:pt x="18421" y="3115"/>
                  </a:cubicBezTo>
                  <a:lnTo>
                    <a:pt x="17183" y="2043"/>
                  </a:lnTo>
                  <a:cubicBezTo>
                    <a:pt x="17054" y="1940"/>
                    <a:pt x="16943" y="1853"/>
                    <a:pt x="16938" y="1847"/>
                  </a:cubicBezTo>
                  <a:cubicBezTo>
                    <a:pt x="16932" y="1842"/>
                    <a:pt x="16810" y="1917"/>
                    <a:pt x="16681" y="2010"/>
                  </a:cubicBezTo>
                  <a:lnTo>
                    <a:pt x="15933" y="2547"/>
                  </a:lnTo>
                  <a:cubicBezTo>
                    <a:pt x="15866" y="2596"/>
                    <a:pt x="15776" y="2621"/>
                    <a:pt x="15685" y="2625"/>
                  </a:cubicBezTo>
                  <a:cubicBezTo>
                    <a:pt x="15594" y="2630"/>
                    <a:pt x="15501" y="2615"/>
                    <a:pt x="15431" y="2574"/>
                  </a:cubicBezTo>
                  <a:lnTo>
                    <a:pt x="14680" y="2190"/>
                  </a:lnTo>
                  <a:cubicBezTo>
                    <a:pt x="14605" y="2155"/>
                    <a:pt x="14537" y="2087"/>
                    <a:pt x="14489" y="2010"/>
                  </a:cubicBezTo>
                  <a:cubicBezTo>
                    <a:pt x="14441" y="1932"/>
                    <a:pt x="14414" y="1844"/>
                    <a:pt x="14417" y="1760"/>
                  </a:cubicBezTo>
                  <a:lnTo>
                    <a:pt x="14429" y="838"/>
                  </a:lnTo>
                  <a:cubicBezTo>
                    <a:pt x="14429" y="757"/>
                    <a:pt x="14428" y="680"/>
                    <a:pt x="14426" y="625"/>
                  </a:cubicBezTo>
                  <a:cubicBezTo>
                    <a:pt x="14424" y="569"/>
                    <a:pt x="14422" y="535"/>
                    <a:pt x="14417" y="535"/>
                  </a:cubicBezTo>
                  <a:cubicBezTo>
                    <a:pt x="14414" y="532"/>
                    <a:pt x="14376" y="521"/>
                    <a:pt x="14321" y="505"/>
                  </a:cubicBezTo>
                  <a:cubicBezTo>
                    <a:pt x="14266" y="489"/>
                    <a:pt x="14193" y="469"/>
                    <a:pt x="14115" y="445"/>
                  </a:cubicBezTo>
                  <a:lnTo>
                    <a:pt x="12506" y="54"/>
                  </a:lnTo>
                  <a:cubicBezTo>
                    <a:pt x="12344" y="22"/>
                    <a:pt x="12203" y="0"/>
                    <a:pt x="12198" y="0"/>
                  </a:cubicBezTo>
                  <a:cubicBezTo>
                    <a:pt x="12187" y="0"/>
                    <a:pt x="12124" y="118"/>
                    <a:pt x="12049" y="264"/>
                  </a:cubicBezTo>
                  <a:lnTo>
                    <a:pt x="11627" y="1093"/>
                  </a:lnTo>
                  <a:cubicBezTo>
                    <a:pt x="11589" y="1167"/>
                    <a:pt x="11523" y="1234"/>
                    <a:pt x="11444" y="1280"/>
                  </a:cubicBezTo>
                  <a:cubicBezTo>
                    <a:pt x="11366" y="1325"/>
                    <a:pt x="11277" y="1351"/>
                    <a:pt x="11196" y="1349"/>
                  </a:cubicBezTo>
                  <a:lnTo>
                    <a:pt x="10386" y="1349"/>
                  </a:lnTo>
                  <a:cubicBezTo>
                    <a:pt x="10305" y="1351"/>
                    <a:pt x="10214" y="1326"/>
                    <a:pt x="10135" y="1280"/>
                  </a:cubicBezTo>
                  <a:cubicBezTo>
                    <a:pt x="10056" y="1234"/>
                    <a:pt x="9990" y="1167"/>
                    <a:pt x="9955" y="1093"/>
                  </a:cubicBezTo>
                  <a:lnTo>
                    <a:pt x="9534" y="264"/>
                  </a:lnTo>
                  <a:cubicBezTo>
                    <a:pt x="9458" y="118"/>
                    <a:pt x="9392" y="0"/>
                    <a:pt x="9381" y="0"/>
                  </a:cubicBezTo>
                  <a:close/>
                  <a:moveTo>
                    <a:pt x="10799" y="2962"/>
                  </a:moveTo>
                  <a:cubicBezTo>
                    <a:pt x="12796" y="2962"/>
                    <a:pt x="14792" y="3726"/>
                    <a:pt x="16316" y="5257"/>
                  </a:cubicBezTo>
                  <a:cubicBezTo>
                    <a:pt x="19364" y="8318"/>
                    <a:pt x="19364" y="13282"/>
                    <a:pt x="16316" y="16343"/>
                  </a:cubicBezTo>
                  <a:cubicBezTo>
                    <a:pt x="13268" y="19405"/>
                    <a:pt x="8329" y="19405"/>
                    <a:pt x="5281" y="16343"/>
                  </a:cubicBezTo>
                  <a:cubicBezTo>
                    <a:pt x="2233" y="13282"/>
                    <a:pt x="2233" y="8318"/>
                    <a:pt x="5281" y="5257"/>
                  </a:cubicBezTo>
                  <a:cubicBezTo>
                    <a:pt x="6805" y="3726"/>
                    <a:pt x="8801" y="2962"/>
                    <a:pt x="10799" y="2962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 anchorCtr="0">
              <a:noAutofit/>
            </a:bodyPr>
            <a:lstStyle/>
            <a:p>
              <a:pPr algn="l"/>
              <a:endParaRPr/>
            </a:p>
          </p:txBody>
        </p:sp>
        <p:sp>
          <p:nvSpPr>
            <p:cNvPr id="2" name="Title" descr="139f17ae-8e7f-4199-840f-b4caa8483de9"/>
            <p:cNvSpPr txBox="1"/>
            <p:nvPr/>
          </p:nvSpPr>
          <p:spPr>
            <a:xfrm>
              <a:off x="1231072" y="2844166"/>
              <a:ext cx="2321864" cy="154960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 fontScale="77500" lnSpcReduction="20000"/>
            </a:bodyPr>
            <a:lstStyle>
              <a:defPPr>
                <a:defRPr lang="zh-CN"/>
              </a:defPPr>
              <a:lvl1pPr>
                <a:defRPr sz="3200" spc="300">
                  <a:gradFill>
                    <a:gsLst>
                      <a:gs pos="0">
                        <a:schemeClr val="bg1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atin typeface="+mj-ea"/>
                  <a:ea typeface="+mj-ea"/>
                </a:defRPr>
              </a:lvl1pPr>
            </a:lstStyle>
            <a:p>
              <a:pPr algn="l">
                <a:spcBef>
                  <a:spcPct val="0"/>
                </a:spcBef>
                <a:spcAft>
                  <a:spcPts val="1000"/>
                </a:spcAft>
              </a:pPr>
              <a:r>
                <a:rPr lang="en-US" sz="2400" b="1" i="0" u="none" strike="noStrike">
                  <a:solidFill>
                    <a:srgbClr val="000000"/>
                  </a:solidFill>
                  <a:ea typeface="微软雅黑" panose="020B0503020204020204" charset="-122"/>
                </a:rPr>
                <a:t>编写Ansible Playbook，一键为所有被管节点安装Docker引擎，实现基础设施的标准化。</a:t>
              </a:r>
            </a:p>
          </p:txBody>
        </p:sp>
        <p:sp>
          <p:nvSpPr>
            <p:cNvPr id="21" name="Line2" descr="8cc66c7d-42fe-4697-b333-e9c870e685e0"/>
            <p:cNvSpPr/>
            <p:nvPr/>
          </p:nvSpPr>
          <p:spPr>
            <a:xfrm>
              <a:off x="3701520" y="1886753"/>
              <a:ext cx="750661" cy="0"/>
            </a:xfrm>
            <a:prstGeom prst="line">
              <a:avLst/>
            </a:prstGeom>
            <a:noFill/>
            <a:ln w="6350" cap="flat">
              <a:solidFill>
                <a:schemeClr val="tx1">
                  <a:alpha val="50000"/>
                </a:schemeClr>
              </a:solidFill>
              <a:custDash>
                <a:ds d="200000" sp="200000"/>
              </a:custDash>
              <a:miter lim="400000"/>
              <a:headEnd type="none"/>
              <a:tailEnd type="oval" w="sm" len="sm"/>
            </a:ln>
            <a:effectLst/>
          </p:spPr>
          <p:txBody>
            <a:bodyPr wrap="square" lIns="38100" tIns="38100" rIns="38100" bIns="38100" numCol="1" anchor="ctr" anchorCtr="0">
              <a:noAutofit/>
            </a:bodyPr>
            <a:lstStyle/>
            <a:p>
              <a:pPr algn="l"/>
              <a:endParaRPr/>
            </a:p>
          </p:txBody>
        </p:sp>
        <p:grpSp>
          <p:nvGrpSpPr>
            <p:cNvPr id="14" name="组合 13" descr="66ff86f1-eb14-45fa-9593-bc6cd7061956"/>
            <p:cNvGrpSpPr/>
            <p:nvPr/>
          </p:nvGrpSpPr>
          <p:grpSpPr>
            <a:xfrm>
              <a:off x="4843580" y="1640637"/>
              <a:ext cx="3079750" cy="3356634"/>
              <a:chOff x="4843580" y="1031037"/>
              <a:chExt cx="3079750" cy="3356634"/>
            </a:xfrm>
          </p:grpSpPr>
          <p:sp>
            <p:nvSpPr>
              <p:cNvPr id="5" name="Bullet1" descr="85ba30da-455c-4c4d-9db8-d8658395e84d"/>
              <p:cNvSpPr txBox="1"/>
              <p:nvPr/>
            </p:nvSpPr>
            <p:spPr>
              <a:xfrm>
                <a:off x="4843580" y="1031037"/>
                <a:ext cx="3079750" cy="47254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l"/>
                <a:r>
                  <a:rPr lang="en-US" sz="1800" b="1" i="0" u="none" dirty="0" err="1">
                    <a:solidFill>
                      <a:srgbClr val="000000"/>
                    </a:solidFill>
                    <a:latin typeface="Arial" panose="020B0604020202020204"/>
                  </a:rPr>
                  <a:t>Playbook编写</a:t>
                </a:r>
                <a:endParaRPr lang="en-US" sz="1800" b="1" i="0" u="none" dirty="0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6" name="Text1" descr="1f2f7425-085e-421c-8b46-43bbdf7418c0"/>
              <p:cNvSpPr txBox="1"/>
              <p:nvPr/>
            </p:nvSpPr>
            <p:spPr>
              <a:xfrm>
                <a:off x="4843580" y="1631066"/>
                <a:ext cx="3079750" cy="275660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 dirty="0" err="1">
                    <a:solidFill>
                      <a:srgbClr val="000000"/>
                    </a:solidFill>
                    <a:ea typeface="微软雅黑" panose="020B0503020204020204" charset="-122"/>
                  </a:rPr>
                  <a:t>任务包含添加Docker官方YUM源、安装Docker引擎软件包、启动Docker服务以及设置开机自启</a:t>
                </a:r>
                <a:r>
                  <a:rPr lang="en-US" sz="1200" b="0" i="0" u="none" dirty="0" smtClean="0">
                    <a:solidFill>
                      <a:srgbClr val="000000"/>
                    </a:solidFill>
                    <a:ea typeface="微软雅黑" panose="020B0503020204020204" charset="-122"/>
                  </a:rPr>
                  <a:t>。</a:t>
                </a:r>
              </a:p>
              <a:p>
                <a:pPr algn="l">
                  <a:lnSpc>
                    <a:spcPct val="120000"/>
                  </a:lnSpc>
                </a:pPr>
                <a:endParaRPr lang="en-US" sz="1200" b="0" i="0" u="none" dirty="0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15" name="组合 14" descr="3820bf52-491b-4a66-9ac9-0ffd8d379e83"/>
            <p:cNvGrpSpPr/>
            <p:nvPr/>
          </p:nvGrpSpPr>
          <p:grpSpPr>
            <a:xfrm>
              <a:off x="4843580" y="4228999"/>
              <a:ext cx="3079750" cy="3292893"/>
              <a:chOff x="4843580" y="3615694"/>
              <a:chExt cx="3079750" cy="3292893"/>
            </a:xfrm>
          </p:grpSpPr>
          <p:sp>
            <p:nvSpPr>
              <p:cNvPr id="121" name="Bullet2" descr="7e96d863-aa22-438f-ad67-6426cfbb46e5"/>
              <p:cNvSpPr txBox="1"/>
              <p:nvPr/>
            </p:nvSpPr>
            <p:spPr>
              <a:xfrm>
                <a:off x="4843580" y="3615694"/>
                <a:ext cx="3079750" cy="47254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l"/>
                <a:r>
                  <a:rPr lang="en-US" sz="1800" b="1" i="0" u="none" dirty="0" err="1">
                    <a:solidFill>
                      <a:srgbClr val="000000"/>
                    </a:solidFill>
                    <a:ea typeface="微软雅黑" panose="020B0503020204020204" charset="-122"/>
                  </a:rPr>
                  <a:t>安装结果验证</a:t>
                </a:r>
                <a:endParaRPr lang="en-US" sz="1800" b="1" i="0" u="none" dirty="0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22" name="Text2" descr="5001372c-198b-4f72-8f6c-ad9f10f932ef"/>
              <p:cNvSpPr txBox="1"/>
              <p:nvPr/>
            </p:nvSpPr>
            <p:spPr>
              <a:xfrm>
                <a:off x="4843580" y="4151982"/>
                <a:ext cx="3079750" cy="275660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 dirty="0" err="1">
                    <a:solidFill>
                      <a:srgbClr val="000000"/>
                    </a:solidFill>
                    <a:ea typeface="微软雅黑" panose="020B0503020204020204" charset="-122"/>
                  </a:rPr>
                  <a:t>在所有节点上执行`docker</a:t>
                </a:r>
                <a:r>
                  <a:rPr lang="en-US" sz="1200" b="0" i="0" u="none" dirty="0">
                    <a:solidFill>
                      <a:srgbClr val="000000"/>
                    </a:solidFill>
                    <a:ea typeface="微软雅黑" panose="020B0503020204020204" charset="-122"/>
                  </a:rPr>
                  <a:t> version`，</a:t>
                </a:r>
                <a:r>
                  <a:rPr lang="en-US" sz="1200" b="0" i="0" u="none" dirty="0" err="1">
                    <a:solidFill>
                      <a:srgbClr val="000000"/>
                    </a:solidFill>
                    <a:ea typeface="微软雅黑" panose="020B0503020204020204" charset="-122"/>
                  </a:rPr>
                  <a:t>命令行截图显示Client和Server端信息，确认Docker已成功安装并运行</a:t>
                </a:r>
                <a:r>
                  <a:rPr lang="en-US" sz="1200" b="0" i="0" u="none" dirty="0">
                    <a:solidFill>
                      <a:srgbClr val="000000"/>
                    </a:solidFill>
                    <a:ea typeface="微软雅黑" panose="020B0503020204020204" charset="-122"/>
                  </a:rPr>
                  <a:t>。</a:t>
                </a:r>
              </a:p>
            </p:txBody>
          </p:sp>
        </p:grpSp>
        <p:sp>
          <p:nvSpPr>
            <p:cNvPr id="99" name="NumberMisc1" descr="953f9510-ac4a-4127-b176-fe5acc639b1d"/>
            <p:cNvSpPr/>
            <p:nvPr/>
          </p:nvSpPr>
          <p:spPr>
            <a:xfrm>
              <a:off x="3320720" y="1648755"/>
              <a:ext cx="464432" cy="464430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none" lIns="91440" tIns="45720" rIns="91440" bIns="45720" numCol="1" anchor="ctr" anchorCtr="0">
              <a:normAutofit/>
            </a:bodyPr>
            <a:lstStyle/>
            <a:p>
              <a:pPr algn="ctr"/>
              <a:r>
                <a:rPr lang="en-US" sz="1200" b="1" i="0" u="none">
                  <a:solidFill>
                    <a:srgbClr val="FFFFFF"/>
                  </a:solidFill>
                  <a:latin typeface="Arial" panose="020B0604020202020204"/>
                </a:rPr>
                <a:t>1</a:t>
              </a:r>
            </a:p>
          </p:txBody>
        </p:sp>
      </p:grpSp>
      <p:sp>
        <p:nvSpPr>
          <p:cNvPr id="3" name="标题 2" descr="986ed6b0-9799-47a5-a099-9370a275831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 smtClean="0">
                <a:solidFill>
                  <a:srgbClr val="626AF8"/>
                </a:solidFill>
                <a:ea typeface="微软雅黑" panose="020B0503020204020204" charset="-122"/>
              </a:rPr>
              <a:t>安装</a:t>
            </a:r>
            <a:r>
              <a:rPr lang="en-US" sz="2800" b="1" i="0" u="none">
                <a:solidFill>
                  <a:srgbClr val="626AF8"/>
                </a:solidFill>
                <a:ea typeface="微软雅黑" panose="020B0503020204020204" charset="-122"/>
              </a:rPr>
              <a:t>Docker</a:t>
            </a:r>
            <a:endParaRPr lang="en-US" sz="2800" b="1" i="0" u="none" dirty="0">
              <a:solidFill>
                <a:srgbClr val="626AF8"/>
              </a:solidFill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3507" y="1264624"/>
            <a:ext cx="4488493" cy="21241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3507" y="3489196"/>
            <a:ext cx="4488493" cy="336880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209b288e-08fb-4dd4-aa76-a4b68b900cab.source.2.zh-Hans.pptx" descr="09969b16-b707-4130-979b-e02f5e57b7b0"/>
          <p:cNvGrpSpPr/>
          <p:nvPr/>
        </p:nvGrpSpPr>
        <p:grpSpPr>
          <a:xfrm>
            <a:off x="660400" y="1130300"/>
            <a:ext cx="10858611" cy="5375009"/>
            <a:chOff x="660400" y="1130300"/>
            <a:chExt cx="10858611" cy="5375009"/>
          </a:xfrm>
        </p:grpSpPr>
        <p:sp>
          <p:nvSpPr>
            <p:cNvPr id="2" name="Title" descr="0672cb77-e53b-423b-a6b9-67f18ebcd113"/>
            <p:cNvSpPr/>
            <p:nvPr/>
          </p:nvSpPr>
          <p:spPr>
            <a:xfrm>
              <a:off x="660400" y="1130300"/>
              <a:ext cx="10858500" cy="4901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 fontScale="70000" lnSpcReduction="20000"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2400" b="1" i="0" u="none">
                  <a:solidFill>
                    <a:srgbClr val="000000"/>
                  </a:solidFill>
                  <a:ea typeface="微软雅黑" panose="020B0503020204020204" charset="-122"/>
                </a:rPr>
                <a:t>在Ansible控制节点上，使用Docker部署Portainer容器，实现对整个集群Docker环境的Web化统一管理。</a:t>
              </a:r>
            </a:p>
          </p:txBody>
        </p:sp>
        <p:grpSp>
          <p:nvGrpSpPr>
            <p:cNvPr id="7" name="组合 6" descr="3a55bfb8-1be9-4f98-8015-6d3479e4ab82"/>
            <p:cNvGrpSpPr/>
            <p:nvPr/>
          </p:nvGrpSpPr>
          <p:grpSpPr>
            <a:xfrm>
              <a:off x="660400" y="1655179"/>
              <a:ext cx="5299075" cy="4850130"/>
              <a:chOff x="660400" y="1655179"/>
              <a:chExt cx="5299075" cy="4850130"/>
            </a:xfrm>
          </p:grpSpPr>
          <p:sp>
            <p:nvSpPr>
              <p:cNvPr id="6" name="ComponentBackground1" descr="86fc2b61-eb3b-4e03-8cb1-f8f43ad5291f"/>
              <p:cNvSpPr/>
              <p:nvPr/>
            </p:nvSpPr>
            <p:spPr>
              <a:xfrm>
                <a:off x="663575" y="1655179"/>
                <a:ext cx="5295900" cy="4850130"/>
              </a:xfrm>
              <a:prstGeom prst="roundRect">
                <a:avLst>
                  <a:gd name="adj" fmla="val 3600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/>
              </a:p>
            </p:txBody>
          </p:sp>
          <p:sp>
            <p:nvSpPr>
              <p:cNvPr id="3" name="Text1" descr="f15e09c2-ba64-4430-aebb-cfe85cc53acd"/>
              <p:cNvSpPr txBox="1"/>
              <p:nvPr/>
            </p:nvSpPr>
            <p:spPr>
              <a:xfrm>
                <a:off x="1232157" y="2111196"/>
                <a:ext cx="4679693" cy="394416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在控制机上，使用</a:t>
                </a:r>
                <a:r>
                  <a:rPr lang="en-US" altLang="zh-CN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 Docker </a:t>
                </a:r>
                <a:r>
                  <a:rPr lang="zh-CN" alt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快速部署一个</a:t>
                </a:r>
                <a:r>
                  <a:rPr lang="en-US" altLang="zh-CN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 Portainer </a:t>
                </a:r>
                <a:r>
                  <a:rPr lang="zh-CN" alt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容器。</a:t>
                </a:r>
                <a:endParaRPr lang="en-US" altLang="zh-CN" sz="1200" b="0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4" name="Bullet1" descr="fed2a08f-38d8-4621-9745-06d8d1efe5b9"/>
              <p:cNvSpPr txBox="1"/>
              <p:nvPr/>
            </p:nvSpPr>
            <p:spPr>
              <a:xfrm>
                <a:off x="1232157" y="1695450"/>
                <a:ext cx="4679693" cy="415748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 lnSpcReduction="10000"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800" b="1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Portainer部署</a:t>
                </a:r>
              </a:p>
            </p:txBody>
          </p:sp>
          <p:sp>
            <p:nvSpPr>
              <p:cNvPr id="26" name="Number1" descr="a89a3313-a4a7-4551-86cc-f3815d943de6"/>
              <p:cNvSpPr/>
              <p:nvPr/>
            </p:nvSpPr>
            <p:spPr>
              <a:xfrm>
                <a:off x="660400" y="1657350"/>
                <a:ext cx="456814" cy="45681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/>
              </a:bodyPr>
              <a:lstStyle/>
              <a:p>
                <a:pPr algn="ctr"/>
                <a:r>
                  <a:rPr lang="en-US" sz="1600" b="0" i="0" u="none">
                    <a:solidFill>
                      <a:srgbClr val="FFFFFF"/>
                    </a:solidFill>
                    <a:latin typeface="Arial" panose="020B0604020202020204"/>
                  </a:rPr>
                  <a:t>1</a:t>
                </a:r>
              </a:p>
            </p:txBody>
          </p:sp>
        </p:grpSp>
        <p:grpSp>
          <p:nvGrpSpPr>
            <p:cNvPr id="11" name="组合 10" descr="8077ddff-4532-4905-82c8-7240b387d101"/>
            <p:cNvGrpSpPr/>
            <p:nvPr/>
          </p:nvGrpSpPr>
          <p:grpSpPr>
            <a:xfrm>
              <a:off x="6219936" y="1655179"/>
              <a:ext cx="5299075" cy="4850130"/>
              <a:chOff x="660400" y="5063345"/>
              <a:chExt cx="5299075" cy="4850130"/>
            </a:xfrm>
          </p:grpSpPr>
          <p:sp>
            <p:nvSpPr>
              <p:cNvPr id="174" name="ComponentBackground2" descr="39bc3394-3dae-43e3-9844-4802f233fc26"/>
              <p:cNvSpPr/>
              <p:nvPr/>
            </p:nvSpPr>
            <p:spPr>
              <a:xfrm>
                <a:off x="663575" y="5063345"/>
                <a:ext cx="5295900" cy="4850130"/>
              </a:xfrm>
              <a:prstGeom prst="roundRect">
                <a:avLst>
                  <a:gd name="adj" fmla="val 3600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/>
              </a:p>
            </p:txBody>
          </p:sp>
          <p:sp>
            <p:nvSpPr>
              <p:cNvPr id="176" name="Text2" descr="2f84e5c4-1378-4b6d-9cf7-a0e7c289dca7"/>
              <p:cNvSpPr txBox="1"/>
              <p:nvPr/>
            </p:nvSpPr>
            <p:spPr>
              <a:xfrm>
                <a:off x="1232157" y="5519362"/>
                <a:ext cx="4679693" cy="394416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浏览器访问`http://192.168.35.131:9443`，</a:t>
                </a:r>
                <a:r>
                  <a:rPr lang="zh-CN" alt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通过</a:t>
                </a:r>
                <a:r>
                  <a:rPr lang="en-US" altLang="zh-CN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 Web </a:t>
                </a:r>
                <a:r>
                  <a:rPr lang="zh-CN" alt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界面管理</a:t>
                </a:r>
                <a:r>
                  <a:rPr lang="en-US" altLang="zh-CN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 Docker </a:t>
                </a:r>
                <a:r>
                  <a:rPr lang="zh-CN" alt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环境。</a:t>
                </a:r>
              </a:p>
              <a:p>
                <a:pPr algn="l">
                  <a:lnSpc>
                    <a:spcPct val="120000"/>
                  </a:lnSpc>
                </a:pPr>
                <a:endParaRPr lang="en-US" sz="1200" b="0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77" name="Bullet2" descr="fec82d0a-3979-42ea-8225-f202d6b9e836"/>
              <p:cNvSpPr txBox="1"/>
              <p:nvPr/>
            </p:nvSpPr>
            <p:spPr>
              <a:xfrm>
                <a:off x="1232157" y="5103616"/>
                <a:ext cx="4679693" cy="415748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 lnSpcReduction="10000"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800" b="1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Web界面管理</a:t>
                </a:r>
              </a:p>
            </p:txBody>
          </p:sp>
          <p:sp>
            <p:nvSpPr>
              <p:cNvPr id="173" name="Number2" descr="506ca659-9a22-470f-9a84-6078210a8d01"/>
              <p:cNvSpPr/>
              <p:nvPr/>
            </p:nvSpPr>
            <p:spPr>
              <a:xfrm>
                <a:off x="660400" y="5065516"/>
                <a:ext cx="456814" cy="45681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/>
              </a:bodyPr>
              <a:lstStyle/>
              <a:p>
                <a:pPr algn="ctr"/>
                <a:r>
                  <a:rPr lang="en-US" sz="1600" b="0" i="0" u="none">
                    <a:solidFill>
                      <a:srgbClr val="FFFFFF"/>
                    </a:solidFill>
                    <a:latin typeface="Arial" panose="020B0604020202020204"/>
                  </a:rPr>
                  <a:t>2</a:t>
                </a:r>
              </a:p>
            </p:txBody>
          </p:sp>
        </p:grpSp>
      </p:grpSp>
      <p:sp>
        <p:nvSpPr>
          <p:cNvPr id="5" name="标题 4" descr="986ed6b0-9799-47a5-a099-9370a275831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626AF8"/>
                </a:solidFill>
                <a:latin typeface="Arial" panose="020B0604020202020204"/>
              </a:rPr>
              <a:t>Portainer可视化管理</a:t>
            </a:r>
          </a:p>
        </p:txBody>
      </p:sp>
      <p:pic>
        <p:nvPicPr>
          <p:cNvPr id="9" name="图片 8" descr="屏幕截图 2026-01-05 2229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745" y="2470150"/>
            <a:ext cx="5158105" cy="4025900"/>
          </a:xfrm>
          <a:prstGeom prst="rect">
            <a:avLst/>
          </a:prstGeom>
        </p:spPr>
      </p:pic>
      <p:pic>
        <p:nvPicPr>
          <p:cNvPr id="10" name="图片 9" descr="屏幕截图 2026-01-05 2246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930" y="2635885"/>
            <a:ext cx="5173345" cy="386016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431eccc4-f7cd-4337-a89a-a565289c83be.source.2.zh-Hans.pptx" descr="dc62fd30-716a-4591-be0f-1c13ad1d2d59"/>
          <p:cNvGrpSpPr/>
          <p:nvPr/>
        </p:nvGrpSpPr>
        <p:grpSpPr>
          <a:xfrm>
            <a:off x="324658" y="1130300"/>
            <a:ext cx="11542684" cy="5444372"/>
            <a:chOff x="324658" y="1130300"/>
            <a:chExt cx="11542684" cy="5444372"/>
          </a:xfrm>
        </p:grpSpPr>
        <p:sp>
          <p:nvSpPr>
            <p:cNvPr id="70" name="弧形 69" descr="1532e22b-9df8-4410-bb67-1f09da511bb5"/>
            <p:cNvSpPr/>
            <p:nvPr/>
          </p:nvSpPr>
          <p:spPr>
            <a:xfrm>
              <a:off x="5614305" y="1688418"/>
              <a:ext cx="963390" cy="963390"/>
            </a:xfrm>
            <a:prstGeom prst="arc">
              <a:avLst>
                <a:gd name="adj1" fmla="val 13483953"/>
                <a:gd name="adj2" fmla="val 19189386"/>
              </a:avLst>
            </a:prstGeom>
            <a:noFill/>
            <a:ln w="12700" cap="rnd">
              <a:solidFill>
                <a:schemeClr val="tx1">
                  <a:alpha val="15000"/>
                </a:schemeClr>
              </a:solidFill>
              <a:round/>
              <a:headEnd w="sm" len="sm"/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 anchorCtr="0"/>
            <a:lstStyle/>
            <a:p>
              <a:pPr algn="ctr">
                <a:lnSpc>
                  <a:spcPct val="120000"/>
                </a:lnSpc>
              </a:pPr>
              <a:endParaRPr/>
            </a:p>
          </p:txBody>
        </p:sp>
        <p:sp>
          <p:nvSpPr>
            <p:cNvPr id="72" name="弧形 71" descr="8668d793-4c19-4705-bdf0-183cb00ca81f"/>
            <p:cNvSpPr/>
            <p:nvPr/>
          </p:nvSpPr>
          <p:spPr>
            <a:xfrm>
              <a:off x="5614305" y="5170697"/>
              <a:ext cx="963390" cy="963390"/>
            </a:xfrm>
            <a:prstGeom prst="arc">
              <a:avLst>
                <a:gd name="adj1" fmla="val 2369910"/>
                <a:gd name="adj2" fmla="val 8497423"/>
              </a:avLst>
            </a:prstGeom>
            <a:noFill/>
            <a:ln w="12700" cap="rnd">
              <a:solidFill>
                <a:schemeClr val="tx1">
                  <a:alpha val="15000"/>
                </a:schemeClr>
              </a:solidFill>
              <a:round/>
              <a:headEnd w="sm" len="sm"/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 anchorCtr="0"/>
            <a:lstStyle/>
            <a:p>
              <a:pPr algn="ctr">
                <a:lnSpc>
                  <a:spcPct val="120000"/>
                </a:lnSpc>
              </a:pPr>
              <a:endParaRPr/>
            </a:p>
          </p:txBody>
        </p:sp>
        <p:sp>
          <p:nvSpPr>
            <p:cNvPr id="71" name="弧形 70" descr="69e49fb6-a0ef-4c62-bf7b-cc6703ae02d9"/>
            <p:cNvSpPr/>
            <p:nvPr/>
          </p:nvSpPr>
          <p:spPr>
            <a:xfrm>
              <a:off x="10903952" y="3396367"/>
              <a:ext cx="963390" cy="963390"/>
            </a:xfrm>
            <a:prstGeom prst="arc">
              <a:avLst>
                <a:gd name="adj1" fmla="val 17981505"/>
                <a:gd name="adj2" fmla="val 3571498"/>
              </a:avLst>
            </a:prstGeom>
            <a:noFill/>
            <a:ln w="12700" cap="rnd">
              <a:solidFill>
                <a:schemeClr val="tx1">
                  <a:alpha val="15000"/>
                </a:schemeClr>
              </a:solidFill>
              <a:round/>
              <a:headEnd w="sm" len="sm"/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 anchorCtr="0"/>
            <a:lstStyle/>
            <a:p>
              <a:pPr algn="ctr">
                <a:lnSpc>
                  <a:spcPct val="120000"/>
                </a:lnSpc>
              </a:pPr>
              <a:endParaRPr/>
            </a:p>
          </p:txBody>
        </p:sp>
        <p:sp>
          <p:nvSpPr>
            <p:cNvPr id="76" name="弧形 75" descr="eb7fb5e1-bf01-4930-a550-b1faf97df61a"/>
            <p:cNvSpPr/>
            <p:nvPr/>
          </p:nvSpPr>
          <p:spPr>
            <a:xfrm>
              <a:off x="324658" y="3396367"/>
              <a:ext cx="963390" cy="963390"/>
            </a:xfrm>
            <a:prstGeom prst="arc">
              <a:avLst>
                <a:gd name="adj1" fmla="val 7258675"/>
                <a:gd name="adj2" fmla="val 14530314"/>
              </a:avLst>
            </a:prstGeom>
            <a:noFill/>
            <a:ln w="12700" cap="rnd">
              <a:solidFill>
                <a:schemeClr val="tx1">
                  <a:alpha val="15000"/>
                </a:schemeClr>
              </a:solidFill>
              <a:round/>
              <a:headEnd w="sm" len="sm"/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 anchorCtr="0"/>
            <a:lstStyle/>
            <a:p>
              <a:pPr algn="ctr">
                <a:lnSpc>
                  <a:spcPct val="120000"/>
                </a:lnSpc>
              </a:pPr>
              <a:endParaRPr/>
            </a:p>
          </p:txBody>
        </p:sp>
        <p:sp>
          <p:nvSpPr>
            <p:cNvPr id="3" name="Title" descr="6aad181f-c115-4287-9deb-076ab54c6ae2"/>
            <p:cNvSpPr/>
            <p:nvPr/>
          </p:nvSpPr>
          <p:spPr>
            <a:xfrm>
              <a:off x="660400" y="1130300"/>
              <a:ext cx="10858500" cy="488979"/>
            </a:xfrm>
            <a:prstGeom prst="rect">
              <a:avLst/>
            </a:prstGeom>
            <a:noFill/>
            <a:ln w="762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 anchorCtr="0">
              <a:normAutofit fontScale="70000" lnSpcReduction="20000"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sz="2400" b="1" dirty="0">
                  <a:solidFill>
                    <a:srgbClr val="000000"/>
                  </a:solidFill>
                  <a:ea typeface="微软雅黑" panose="020B0503020204020204" charset="-122"/>
                </a:rPr>
                <a:t>使用 </a:t>
              </a:r>
              <a:r>
                <a:rPr lang="en-US" sz="2400" b="1" dirty="0">
                  <a:solidFill>
                    <a:srgbClr val="000000"/>
                  </a:solidFill>
                  <a:ea typeface="微软雅黑" panose="020B0503020204020204" charset="-122"/>
                </a:rPr>
                <a:t>Docker Compose </a:t>
              </a:r>
              <a:r>
                <a:rPr lang="zh-CN" altLang="en-US" sz="2400" b="1" dirty="0">
                  <a:solidFill>
                    <a:srgbClr val="000000"/>
                  </a:solidFill>
                  <a:ea typeface="微软雅黑" panose="020B0503020204020204" charset="-122"/>
                </a:rPr>
                <a:t>在控制机或某一被管节点上，部署一个包含 </a:t>
              </a:r>
              <a:r>
                <a:rPr lang="en-US" sz="2400" b="1" dirty="0">
                  <a:solidFill>
                    <a:srgbClr val="000000"/>
                  </a:solidFill>
                  <a:ea typeface="微软雅黑" panose="020B0503020204020204" charset="-122"/>
                </a:rPr>
                <a:t>WordPress </a:t>
              </a:r>
              <a:r>
                <a:rPr lang="zh-CN" altLang="en-US" sz="2400" b="1" dirty="0">
                  <a:solidFill>
                    <a:srgbClr val="000000"/>
                  </a:solidFill>
                  <a:ea typeface="微软雅黑" panose="020B0503020204020204" charset="-122"/>
                </a:rPr>
                <a:t>和 </a:t>
              </a:r>
              <a:r>
                <a:rPr lang="en-US" sz="2400" b="1" dirty="0" err="1">
                  <a:solidFill>
                    <a:srgbClr val="000000"/>
                  </a:solidFill>
                  <a:ea typeface="微软雅黑" panose="020B0503020204020204" charset="-122"/>
                </a:rPr>
                <a:t>MariaDB</a:t>
              </a:r>
              <a:r>
                <a:rPr lang="en-US" sz="2400" b="1" dirty="0">
                  <a:solidFill>
                    <a:srgbClr val="000000"/>
                  </a:solidFill>
                  <a:ea typeface="微软雅黑" panose="020B0503020204020204" charset="-122"/>
                </a:rPr>
                <a:t> </a:t>
              </a:r>
              <a:r>
                <a:rPr lang="zh-CN" altLang="en-US" sz="2400" b="1" dirty="0">
                  <a:solidFill>
                    <a:srgbClr val="000000"/>
                  </a:solidFill>
                  <a:ea typeface="微软雅黑" panose="020B0503020204020204" charset="-122"/>
                </a:rPr>
                <a:t>的简易博客应用。</a:t>
              </a:r>
              <a:endParaRPr lang="en-US" sz="2400" b="1" i="0" u="none" dirty="0">
                <a:solidFill>
                  <a:srgbClr val="000000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14" name="组合 13" descr="64083cea-f6b5-4885-89a5-1491ca463d3a"/>
            <p:cNvGrpSpPr/>
            <p:nvPr/>
          </p:nvGrpSpPr>
          <p:grpSpPr>
            <a:xfrm>
              <a:off x="660400" y="1916947"/>
              <a:ext cx="5339715" cy="4657725"/>
              <a:chOff x="660400" y="1916947"/>
              <a:chExt cx="5339715" cy="4657725"/>
            </a:xfrm>
          </p:grpSpPr>
          <p:sp>
            <p:nvSpPr>
              <p:cNvPr id="2" name="ComponentBackground1" descr="bbbc60da-a273-4bf0-bcfb-d75ddbf6559d"/>
              <p:cNvSpPr/>
              <p:nvPr/>
            </p:nvSpPr>
            <p:spPr>
              <a:xfrm>
                <a:off x="660400" y="1916947"/>
                <a:ext cx="5339715" cy="4657725"/>
              </a:xfrm>
              <a:prstGeom prst="roundRect">
                <a:avLst>
                  <a:gd name="adj" fmla="val 1900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endParaRPr/>
              </a:p>
            </p:txBody>
          </p:sp>
          <p:sp>
            <p:nvSpPr>
              <p:cNvPr id="6" name="Text1" descr="74d89b7d-488c-46e1-9e8a-b7d5dac1aedf"/>
              <p:cNvSpPr/>
              <p:nvPr/>
            </p:nvSpPr>
            <p:spPr>
              <a:xfrm flipH="1">
                <a:off x="829308" y="2640240"/>
                <a:ext cx="5031692" cy="3013800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 strike="noStrike">
                    <a:solidFill>
                      <a:srgbClr val="000000"/>
                    </a:solidFill>
                    <a:ea typeface="微软雅黑" panose="020B0503020204020204" charset="-122"/>
                  </a:rPr>
                  <a:t>编写`docker-compose.yaml`，定义三个服务：`wordpress`、`db`和`nginx`。</a:t>
                </a:r>
              </a:p>
              <a:p>
                <a:pPr algn="l">
                  <a:lnSpc>
                    <a:spcPct val="120000"/>
                  </a:lnSpc>
                </a:pPr>
                <a:endParaRPr lang="en-US" sz="1200" b="0" i="0" u="none" strike="noStrik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7" name="Bullet1" descr="034c5518-104a-4dad-99b4-8d54767ba31e"/>
              <p:cNvSpPr txBox="1"/>
              <p:nvPr/>
            </p:nvSpPr>
            <p:spPr>
              <a:xfrm>
                <a:off x="829308" y="2020062"/>
                <a:ext cx="5031694" cy="6201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800" b="1" i="0" u="none">
                    <a:solidFill>
                      <a:srgbClr val="000000"/>
                    </a:solidFill>
                    <a:latin typeface="Arial" panose="020B0604020202020204"/>
                  </a:rPr>
                  <a:t>Docker Compose文件</a:t>
                </a:r>
              </a:p>
            </p:txBody>
          </p:sp>
          <p:sp>
            <p:nvSpPr>
              <p:cNvPr id="8" name="Shape1" descr="5fc74d0d-5128-43d2-9825-d2e806d28382"/>
              <p:cNvSpPr/>
              <p:nvPr/>
            </p:nvSpPr>
            <p:spPr>
              <a:xfrm>
                <a:off x="729284" y="2211171"/>
                <a:ext cx="77771" cy="237961"/>
              </a:xfrm>
              <a:prstGeom prst="roundRect">
                <a:avLst/>
              </a:prstGeom>
              <a:solidFill>
                <a:schemeClr val="accent1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47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12000"/>
                  </a:lnSpc>
                </a:pPr>
                <a:endParaRPr/>
              </a:p>
            </p:txBody>
          </p:sp>
        </p:grpSp>
        <p:grpSp>
          <p:nvGrpSpPr>
            <p:cNvPr id="15" name="组合 14" descr="a1d48d4d-6dcd-4dfc-8397-bdfd5074df03"/>
            <p:cNvGrpSpPr/>
            <p:nvPr/>
          </p:nvGrpSpPr>
          <p:grpSpPr>
            <a:xfrm>
              <a:off x="6179392" y="1916947"/>
              <a:ext cx="5339715" cy="4657725"/>
              <a:chOff x="6179392" y="1916947"/>
              <a:chExt cx="5339715" cy="4657725"/>
            </a:xfrm>
          </p:grpSpPr>
          <p:sp>
            <p:nvSpPr>
              <p:cNvPr id="10" name="ComponentBackground2" descr="33fac8a0-a335-479e-9e85-f6d2d04b2fc8"/>
              <p:cNvSpPr/>
              <p:nvPr/>
            </p:nvSpPr>
            <p:spPr>
              <a:xfrm>
                <a:off x="6179392" y="1916947"/>
                <a:ext cx="5339715" cy="4657725"/>
              </a:xfrm>
              <a:prstGeom prst="roundRect">
                <a:avLst>
                  <a:gd name="adj" fmla="val 1900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endParaRPr/>
              </a:p>
            </p:txBody>
          </p:sp>
          <p:sp>
            <p:nvSpPr>
              <p:cNvPr id="11" name="Text2" descr="f2f55644-77c0-4e05-bccd-653acbec85cc"/>
              <p:cNvSpPr/>
              <p:nvPr/>
            </p:nvSpPr>
            <p:spPr>
              <a:xfrm flipH="1">
                <a:off x="6348300" y="2640240"/>
                <a:ext cx="5031692" cy="3013800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 strike="noStrike">
                    <a:solidFill>
                      <a:srgbClr val="000000"/>
                    </a:solidFill>
                    <a:ea typeface="微软雅黑" panose="020B0503020204020204" charset="-122"/>
                  </a:rPr>
                  <a:t>执行`docker-compose up -d`</a:t>
                </a:r>
                <a:r>
                  <a:rPr lang="zh-CN" altLang="en-US" sz="1200" b="0" i="0" u="none" strike="noStrike">
                    <a:solidFill>
                      <a:srgbClr val="000000"/>
                    </a:solidFill>
                    <a:ea typeface="微软雅黑" panose="020B0503020204020204" charset="-122"/>
                  </a:rPr>
                  <a:t>，</a:t>
                </a:r>
                <a:r>
                  <a:rPr lang="en-US" sz="1200" b="0" i="0" u="none" strike="noStrike">
                    <a:solidFill>
                      <a:srgbClr val="000000"/>
                    </a:solidFill>
                    <a:ea typeface="微软雅黑" panose="020B0503020204020204" charset="-122"/>
                  </a:rPr>
                  <a:t>部署成功</a:t>
                </a:r>
                <a:r>
                  <a:rPr lang="zh-CN" altLang="en-US" sz="1200" b="0" i="0" u="none" strike="noStrike">
                    <a:solidFill>
                      <a:srgbClr val="000000"/>
                    </a:solidFill>
                    <a:ea typeface="微软雅黑" panose="020B0503020204020204" charset="-122"/>
                  </a:rPr>
                  <a:t>。</a:t>
                </a:r>
              </a:p>
            </p:txBody>
          </p:sp>
          <p:sp>
            <p:nvSpPr>
              <p:cNvPr id="12" name="Bullet2" descr="ceebfdfa-c2af-425e-a490-4bbd4070eec9"/>
              <p:cNvSpPr txBox="1"/>
              <p:nvPr/>
            </p:nvSpPr>
            <p:spPr>
              <a:xfrm>
                <a:off x="6348300" y="2020062"/>
                <a:ext cx="5031694" cy="6201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部署与访问</a:t>
                </a:r>
              </a:p>
            </p:txBody>
          </p:sp>
          <p:sp>
            <p:nvSpPr>
              <p:cNvPr id="13" name="Shape2" descr="1d7e18a7-568e-4b31-b471-15195d9625ed"/>
              <p:cNvSpPr/>
              <p:nvPr/>
            </p:nvSpPr>
            <p:spPr>
              <a:xfrm>
                <a:off x="6248276" y="2211171"/>
                <a:ext cx="77771" cy="237961"/>
              </a:xfrm>
              <a:prstGeom prst="roundRect">
                <a:avLst/>
              </a:prstGeom>
              <a:solidFill>
                <a:schemeClr val="accent1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47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12000"/>
                  </a:lnSpc>
                </a:pPr>
                <a:endParaRPr/>
              </a:p>
            </p:txBody>
          </p:sp>
        </p:grpSp>
      </p:grpSp>
      <p:sp>
        <p:nvSpPr>
          <p:cNvPr id="4" name="标题 3" descr="986ed6b0-9799-47a5-a099-9370a275831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626AF8"/>
                </a:solidFill>
                <a:latin typeface="Arial" panose="020B0604020202020204"/>
              </a:rPr>
              <a:t>Docker部署WordPress</a:t>
            </a:r>
            <a:r>
              <a:rPr lang="zh-CN" altLang="en-US" sz="2800" b="1" i="0" u="none">
                <a:solidFill>
                  <a:srgbClr val="626AF8"/>
                </a:solidFill>
                <a:latin typeface="Arial" panose="020B0604020202020204"/>
              </a:rPr>
              <a:t>和</a:t>
            </a:r>
            <a:r>
              <a:rPr lang="en-US" altLang="zh-CN" sz="2800" b="1" i="0" u="none">
                <a:solidFill>
                  <a:srgbClr val="626AF8"/>
                </a:solidFill>
                <a:latin typeface="Arial" panose="020B0604020202020204"/>
              </a:rPr>
              <a:t>MariaDB</a:t>
            </a:r>
          </a:p>
        </p:txBody>
      </p:sp>
      <p:pic>
        <p:nvPicPr>
          <p:cNvPr id="5" name="图片 4" descr="屏幕截图 2026-01-05 2249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980" y="3171190"/>
            <a:ext cx="5145405" cy="3403600"/>
          </a:xfrm>
          <a:prstGeom prst="rect">
            <a:avLst/>
          </a:prstGeom>
        </p:spPr>
      </p:pic>
      <p:pic>
        <p:nvPicPr>
          <p:cNvPr id="54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095" y="3121660"/>
            <a:ext cx="4904740" cy="34347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标题 24" descr="7f0ea7ff-6ece-4b88-b112-01279104e764"/>
          <p:cNvSpPr>
            <a:spLocks noGrp="1"/>
          </p:cNvSpPr>
          <p:nvPr>
            <p:ph type="title" sz="quarter" hasCustomPrompt="1"/>
          </p:nvPr>
        </p:nvSpPr>
        <p:spPr/>
        <p:txBody>
          <a:bodyPr anchorCtr="0">
            <a:normAutofit fontScale="90000"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200" b="1" i="0" u="none">
                <a:solidFill>
                  <a:srgbClr val="FFFFFF"/>
                </a:solidFill>
                <a:latin typeface="Arial" panose="020B0604020202020204"/>
              </a:rPr>
              <a:t>Zabbix监控平台搭建与定制告警</a:t>
            </a:r>
          </a:p>
        </p:txBody>
      </p:sp>
      <p:sp>
        <p:nvSpPr>
          <p:cNvPr id="5" name="文本占位符 4" descr="b0e1de57-aa6c-49fa-971a-1b7e0077aa68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1600" b="0" i="0" u="none">
                <a:solidFill>
                  <a:srgbClr val="FFFFFF"/>
                </a:solidFill>
                <a:ea typeface="微软雅黑" panose="020B0503020204020204" charset="-122"/>
              </a:rPr>
              <a:t>本章节介绍如何使用Docker快速搭建Zabbix监控平台，并对核心指标进行监控，同时配置个性化告警规则。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e6eee993-bf31-4794-9082-47e3375dfb00.source.2.zh-Hans.pptx" descr="f32dfece-7a00-46a0-bb07-d453412a7525"/>
          <p:cNvGrpSpPr/>
          <p:nvPr/>
        </p:nvGrpSpPr>
        <p:grpSpPr>
          <a:xfrm>
            <a:off x="660399" y="1130300"/>
            <a:ext cx="10858501" cy="5003800"/>
            <a:chOff x="660399" y="1130300"/>
            <a:chExt cx="10858501" cy="5003800"/>
          </a:xfrm>
        </p:grpSpPr>
        <p:cxnSp>
          <p:nvCxnSpPr>
            <p:cNvPr id="2" name="连接符: 肘形 1" descr="39fb5f90-dc85-45cd-97e8-15a4925a97d7"/>
            <p:cNvCxnSpPr>
              <a:stCxn id="4" idx="0"/>
              <a:endCxn id="6" idx="0"/>
            </p:cNvCxnSpPr>
            <p:nvPr/>
          </p:nvCxnSpPr>
          <p:spPr>
            <a:xfrm rot="5400000" flipH="1" flipV="1">
              <a:off x="6089647" y="-374913"/>
              <a:ext cx="12700" cy="5621803"/>
            </a:xfrm>
            <a:prstGeom prst="bentConnector3">
              <a:avLst>
                <a:gd name="adj1" fmla="val 1800000"/>
              </a:avLst>
            </a:prstGeom>
            <a:solidFill>
              <a:schemeClr val="bg1"/>
            </a:solidFill>
            <a:ln w="6350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" name="Title" descr="ccb88d04-886c-4560-ac19-605df94af3d1"/>
            <p:cNvSpPr/>
            <p:nvPr/>
          </p:nvSpPr>
          <p:spPr>
            <a:xfrm>
              <a:off x="660400" y="1130300"/>
              <a:ext cx="10858500" cy="653642"/>
            </a:xfrm>
            <a:prstGeom prst="roundRect">
              <a:avLst>
                <a:gd name="adj" fmla="val 14472"/>
              </a:avLst>
            </a:prstGeom>
            <a:solidFill>
              <a:schemeClr val="tx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l"/>
              <a:r>
                <a:rPr lang="en-US" sz="2400" b="1" i="0" u="none">
                  <a:solidFill>
                    <a:srgbClr val="000000"/>
                  </a:solidFill>
                  <a:ea typeface="微软雅黑" panose="020B0503020204020204" charset="-122"/>
                </a:rPr>
                <a:t>采用All in One架构</a:t>
              </a:r>
              <a:r>
                <a:rPr lang="zh-CN" altLang="en-US" sz="2400" b="1" i="0" u="none">
                  <a:solidFill>
                    <a:srgbClr val="000000"/>
                  </a:solidFill>
                  <a:ea typeface="微软雅黑" panose="020B0503020204020204" charset="-122"/>
                </a:rPr>
                <a:t>，</a:t>
              </a:r>
              <a:r>
                <a:rPr lang="en-US" sz="2400" b="1" i="0" u="none">
                  <a:solidFill>
                    <a:srgbClr val="000000"/>
                  </a:solidFill>
                  <a:ea typeface="微软雅黑" panose="020B0503020204020204" charset="-122"/>
                </a:rPr>
                <a:t>快速部署Zabbix。</a:t>
              </a:r>
            </a:p>
          </p:txBody>
        </p:sp>
        <p:grpSp>
          <p:nvGrpSpPr>
            <p:cNvPr id="3" name="组合 2" descr="d5a1003d-a089-406d-988e-63818fc35b3c"/>
            <p:cNvGrpSpPr/>
            <p:nvPr/>
          </p:nvGrpSpPr>
          <p:grpSpPr>
            <a:xfrm>
              <a:off x="660399" y="2435988"/>
              <a:ext cx="5236845" cy="3557905"/>
              <a:chOff x="660399" y="2435988"/>
              <a:chExt cx="5236845" cy="3557905"/>
            </a:xfrm>
          </p:grpSpPr>
          <p:sp>
            <p:nvSpPr>
              <p:cNvPr id="4" name="Bullet1" descr="5be4f900-b259-418e-95c1-aa45075da542"/>
              <p:cNvSpPr/>
              <p:nvPr/>
            </p:nvSpPr>
            <p:spPr>
              <a:xfrm flipH="1">
                <a:off x="660399" y="2435988"/>
                <a:ext cx="5236694" cy="500400"/>
              </a:xfrm>
              <a:prstGeom prst="roundRect">
                <a:avLst/>
              </a:prstGeom>
              <a:solidFill>
                <a:schemeClr val="accent1"/>
              </a:solidFill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800" b="1" i="0" u="none">
                    <a:solidFill>
                      <a:srgbClr val="FFFFFF"/>
                    </a:solidFill>
                    <a:latin typeface="Arial" panose="020B0604020202020204"/>
                  </a:rPr>
                  <a:t>部署zabbix</a:t>
                </a:r>
              </a:p>
            </p:txBody>
          </p:sp>
          <p:sp>
            <p:nvSpPr>
              <p:cNvPr id="5" name="Text1" descr="d89af3d4-9a19-4f78-b5a3-74024b31cf69"/>
              <p:cNvSpPr txBox="1"/>
              <p:nvPr/>
            </p:nvSpPr>
            <p:spPr>
              <a:xfrm>
                <a:off x="660399" y="2947798"/>
                <a:ext cx="5236845" cy="3046095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采用</a:t>
                </a:r>
                <a:r>
                  <a:rPr lang="en-US" altLang="zh-CN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 “All in One” </a:t>
                </a:r>
                <a:r>
                  <a:rPr lang="zh-CN" alt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或</a:t>
                </a:r>
                <a:r>
                  <a:rPr lang="en-US" altLang="zh-CN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 “</a:t>
                </a:r>
                <a:r>
                  <a:rPr lang="zh-CN" alt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组件分离</a:t>
                </a:r>
                <a:r>
                  <a:rPr lang="en-US" altLang="zh-CN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”</a:t>
                </a:r>
                <a:r>
                  <a:rPr lang="zh-CN" alt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架构，使用</a:t>
                </a:r>
                <a:r>
                  <a:rPr lang="en-US" altLang="zh-CN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 Ansible </a:t>
                </a:r>
                <a:r>
                  <a:rPr lang="zh-CN" alt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或</a:t>
                </a:r>
                <a:r>
                  <a:rPr lang="en-US" altLang="zh-CN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 Docker Compose </a:t>
                </a:r>
                <a:r>
                  <a:rPr lang="zh-CN" alt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部署完整的</a:t>
                </a:r>
                <a:r>
                  <a:rPr lang="en-US" altLang="zh-CN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 Zabbix </a:t>
                </a:r>
                <a:r>
                  <a:rPr lang="zh-CN" alt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监控系统（包含</a:t>
                </a:r>
                <a:r>
                  <a:rPr lang="en-US" altLang="zh-CN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 Server</a:t>
                </a:r>
                <a:r>
                  <a:rPr lang="zh-CN" alt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，</a:t>
                </a:r>
                <a:r>
                  <a:rPr lang="en-US" altLang="zh-CN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 Web</a:t>
                </a:r>
                <a:r>
                  <a:rPr lang="zh-CN" alt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，</a:t>
                </a:r>
                <a:r>
                  <a:rPr lang="en-US" altLang="zh-CN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Agent</a:t>
                </a:r>
                <a:r>
                  <a:rPr lang="zh-CN" alt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，</a:t>
                </a:r>
                <a:r>
                  <a:rPr lang="en-US" altLang="zh-CN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Database</a:t>
                </a:r>
                <a:r>
                  <a:rPr lang="zh-CN" alt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）。</a:t>
                </a:r>
              </a:p>
              <a:p>
                <a:pPr algn="l">
                  <a:lnSpc>
                    <a:spcPct val="120000"/>
                  </a:lnSpc>
                </a:pPr>
                <a:endParaRPr lang="zh-CN" altLang="en-US" sz="1200" b="0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8" name="组合 7" descr="9f37ee9f-90d7-4278-b473-1d5856986359"/>
            <p:cNvGrpSpPr/>
            <p:nvPr/>
          </p:nvGrpSpPr>
          <p:grpSpPr>
            <a:xfrm>
              <a:off x="6282202" y="2435988"/>
              <a:ext cx="5236697" cy="3698112"/>
              <a:chOff x="6282202" y="2435988"/>
              <a:chExt cx="5236697" cy="3698112"/>
            </a:xfrm>
          </p:grpSpPr>
          <p:sp>
            <p:nvSpPr>
              <p:cNvPr id="6" name="Bullet2" descr="2d6a3886-b595-4ee8-883d-f3cd96fb3c6e"/>
              <p:cNvSpPr/>
              <p:nvPr/>
            </p:nvSpPr>
            <p:spPr>
              <a:xfrm flipH="1">
                <a:off x="6282202" y="2435988"/>
                <a:ext cx="5236694" cy="500400"/>
              </a:xfrm>
              <a:prstGeom prst="roundRect">
                <a:avLst/>
              </a:prstGeom>
              <a:solidFill>
                <a:schemeClr val="accent1"/>
              </a:solidFill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访问Zabbix Web</a:t>
                </a:r>
              </a:p>
            </p:txBody>
          </p:sp>
          <p:sp>
            <p:nvSpPr>
              <p:cNvPr id="7" name="Text2" descr="3ba9118d-0ed0-4155-a395-91d707c5fac6"/>
              <p:cNvSpPr txBox="1"/>
              <p:nvPr/>
            </p:nvSpPr>
            <p:spPr>
              <a:xfrm>
                <a:off x="6282205" y="3088035"/>
                <a:ext cx="5236694" cy="3046065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部署完成后，浏览器访问`http://192.168.114.132/zabbix`，展示Zabbix初始配置页面和登录后的概览界面。</a:t>
                </a:r>
              </a:p>
              <a:p>
                <a:pPr algn="l">
                  <a:lnSpc>
                    <a:spcPct val="120000"/>
                  </a:lnSpc>
                </a:pPr>
                <a:endParaRPr lang="en-US" sz="1200" b="0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10" name="标题 9" descr="986ed6b0-9799-47a5-a099-9370a275831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626AF8"/>
                </a:solidFill>
                <a:latin typeface="Arial" panose="020B0604020202020204"/>
              </a:rPr>
              <a:t>Zabbix平台搭建</a:t>
            </a:r>
          </a:p>
        </p:txBody>
      </p:sp>
      <p:pic>
        <p:nvPicPr>
          <p:cNvPr id="13" name="图片 12" descr="1bf395d9a99a7bee2d6b0e09704a77a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2055" y="3588385"/>
            <a:ext cx="5909945" cy="3269615"/>
          </a:xfrm>
          <a:prstGeom prst="rect">
            <a:avLst/>
          </a:prstGeom>
        </p:spPr>
      </p:pic>
      <p:pic>
        <p:nvPicPr>
          <p:cNvPr id="15" name="图片 14" descr="屏幕截图 2026-01-06 0113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3429635"/>
            <a:ext cx="3022600" cy="342836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37e9254f-cd01-4222-a8b3-518de6c71795.source.3.zh-Hans.pptx" descr="37fc26f4-d437-4982-8e9c-510625fb3c1c"/>
          <p:cNvGrpSpPr/>
          <p:nvPr>
            <p:custDataLst>
              <p:tags r:id="rId1"/>
            </p:custDataLst>
          </p:nvPr>
        </p:nvGrpSpPr>
        <p:grpSpPr>
          <a:xfrm>
            <a:off x="660399" y="1130301"/>
            <a:ext cx="10858501" cy="5003617"/>
            <a:chOff x="660399" y="1130301"/>
            <a:chExt cx="10858501" cy="5003617"/>
          </a:xfrm>
        </p:grpSpPr>
        <p:sp>
          <p:nvSpPr>
            <p:cNvPr id="10" name="Title" descr="529f15c4-ab04-4ff2-8a5f-aa675f3d456c"/>
            <p:cNvSpPr/>
            <p:nvPr/>
          </p:nvSpPr>
          <p:spPr>
            <a:xfrm>
              <a:off x="660399" y="1130301"/>
              <a:ext cx="10858500" cy="586098"/>
            </a:xfrm>
            <a:prstGeom prst="rect">
              <a:avLst/>
            </a:prstGeom>
            <a:noFill/>
            <a:ln w="762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 anchorCtr="0">
              <a:normAutofit/>
            </a:bodyPr>
            <a:lstStyle/>
            <a:p>
              <a:pPr algn="l"/>
              <a:r>
                <a:rPr lang="zh-CN" altLang="en-US" sz="2400" b="1" i="0" u="none">
                  <a:solidFill>
                    <a:srgbClr val="000000"/>
                  </a:solidFill>
                  <a:ea typeface="微软雅黑" panose="020B0503020204020204" charset="-122"/>
                </a:rPr>
                <a:t>配置</a:t>
              </a:r>
              <a:r>
                <a:rPr lang="en-US" sz="2400" b="1" i="0" u="none">
                  <a:solidFill>
                    <a:srgbClr val="000000"/>
                  </a:solidFill>
                  <a:ea typeface="微软雅黑" panose="020B0503020204020204" charset="-122"/>
                </a:rPr>
                <a:t>监控项</a:t>
              </a:r>
              <a:r>
                <a:rPr lang="zh-CN" altLang="en-US" sz="2400" b="1" i="0" u="none">
                  <a:solidFill>
                    <a:srgbClr val="000000"/>
                  </a:solidFill>
                  <a:ea typeface="微软雅黑" panose="020B0503020204020204" charset="-122"/>
                </a:rPr>
                <a:t>、</a:t>
              </a:r>
              <a:r>
                <a:rPr lang="en-US" sz="2400" b="1" i="0" u="none">
                  <a:solidFill>
                    <a:srgbClr val="000000"/>
                  </a:solidFill>
                  <a:ea typeface="微软雅黑" panose="020B0503020204020204" charset="-122"/>
                </a:rPr>
                <a:t>触发器</a:t>
              </a:r>
              <a:r>
                <a:rPr lang="zh-CN" altLang="en-US" sz="2400" b="1" i="0" u="none">
                  <a:solidFill>
                    <a:srgbClr val="000000"/>
                  </a:solidFill>
                  <a:ea typeface="微软雅黑" panose="020B0503020204020204" charset="-122"/>
                </a:rPr>
                <a:t>和邮件告警媒介</a:t>
              </a:r>
              <a:r>
                <a:rPr lang="en-US" sz="2400" b="1" i="0" u="none">
                  <a:solidFill>
                    <a:srgbClr val="000000"/>
                  </a:solidFill>
                  <a:ea typeface="微软雅黑" panose="020B0503020204020204" charset="-122"/>
                </a:rPr>
                <a:t>。</a:t>
              </a:r>
            </a:p>
          </p:txBody>
        </p:sp>
        <p:grpSp>
          <p:nvGrpSpPr>
            <p:cNvPr id="37" name="组合 36" descr="211370cb-ebb0-4b02-ade0-8066439210e1"/>
            <p:cNvGrpSpPr/>
            <p:nvPr/>
          </p:nvGrpSpPr>
          <p:grpSpPr>
            <a:xfrm>
              <a:off x="660400" y="1761003"/>
              <a:ext cx="10858500" cy="1408612"/>
              <a:chOff x="885625" y="1931699"/>
              <a:chExt cx="10858500" cy="1408612"/>
            </a:xfrm>
          </p:grpSpPr>
          <p:sp>
            <p:nvSpPr>
              <p:cNvPr id="34" name="Number1" descr="83348fe8-560a-4c96-a17c-a7fb60654846"/>
              <p:cNvSpPr/>
              <p:nvPr/>
            </p:nvSpPr>
            <p:spPr>
              <a:xfrm flipH="1">
                <a:off x="885625" y="1931699"/>
                <a:ext cx="472502" cy="472662"/>
              </a:xfrm>
              <a:prstGeom prst="ellipse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 fontScale="92500" lnSpcReduction="10000"/>
              </a:bodyPr>
              <a:lstStyle/>
              <a:p>
                <a:pPr algn="ctr"/>
                <a:r>
                  <a:rPr lang="en-US" sz="1800" b="0" i="0" u="none">
                    <a:solidFill>
                      <a:srgbClr val="626AF8"/>
                    </a:solidFill>
                    <a:latin typeface="Arial" panose="020B0604020202020204"/>
                  </a:rPr>
                  <a:t>1</a:t>
                </a:r>
              </a:p>
            </p:txBody>
          </p:sp>
          <p:sp>
            <p:nvSpPr>
              <p:cNvPr id="35" name="Bullet1" descr="6ff2e7b4-ae48-4943-b5f9-a862385423f3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383527" y="1931699"/>
                <a:ext cx="1036059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基础监控项</a:t>
                </a:r>
              </a:p>
            </p:txBody>
          </p:sp>
          <p:sp>
            <p:nvSpPr>
              <p:cNvPr id="36" name="Text1" descr="18b9a8b7-78f4-49ea-b031-0d75da372ff9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1383527" y="2404360"/>
                <a:ext cx="10360598" cy="9359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1200" b="0" i="0" u="none" strike="noStrike">
                    <a:solidFill>
                      <a:srgbClr val="000000"/>
                    </a:solidFill>
                    <a:ea typeface="微软雅黑" panose="020B0503020204020204" charset="-122"/>
                  </a:rPr>
                  <a:t>在</a:t>
                </a:r>
                <a:r>
                  <a:rPr lang="en-US" altLang="zh-CN" sz="1200" b="0" i="0" u="none" strike="noStrike">
                    <a:solidFill>
                      <a:srgbClr val="000000"/>
                    </a:solidFill>
                    <a:ea typeface="微软雅黑" panose="020B0503020204020204" charset="-122"/>
                  </a:rPr>
                  <a:t> Zabbix Web </a:t>
                </a:r>
                <a:r>
                  <a:rPr lang="zh-CN" altLang="en-US" sz="1200" b="0" i="0" u="none" strike="noStrike">
                    <a:solidFill>
                      <a:srgbClr val="000000"/>
                    </a:solidFill>
                    <a:ea typeface="微软雅黑" panose="020B0503020204020204" charset="-122"/>
                  </a:rPr>
                  <a:t>界面中，手动添加对两台被管节点的监控</a:t>
                </a:r>
                <a:r>
                  <a:rPr lang="en-US" sz="1200" b="0" i="0" u="none" strike="noStrike">
                    <a:solidFill>
                      <a:srgbClr val="000000"/>
                    </a:solidFill>
                    <a:ea typeface="微软雅黑" panose="020B0503020204020204" charset="-122"/>
                  </a:rPr>
                  <a:t>。</a:t>
                </a:r>
              </a:p>
            </p:txBody>
          </p:sp>
        </p:grpSp>
        <p:grpSp>
          <p:nvGrpSpPr>
            <p:cNvPr id="2" name="组合 1" descr="64f83a74-a450-4820-97c8-13ad2f3d976a"/>
            <p:cNvGrpSpPr/>
            <p:nvPr/>
          </p:nvGrpSpPr>
          <p:grpSpPr>
            <a:xfrm>
              <a:off x="660400" y="3243246"/>
              <a:ext cx="10858500" cy="1408612"/>
              <a:chOff x="885625" y="1931699"/>
              <a:chExt cx="10858500" cy="1408612"/>
            </a:xfrm>
          </p:grpSpPr>
          <p:sp>
            <p:nvSpPr>
              <p:cNvPr id="3" name="Number2" descr="60621995-5825-4fd8-8e1c-2c534872ef31"/>
              <p:cNvSpPr/>
              <p:nvPr/>
            </p:nvSpPr>
            <p:spPr>
              <a:xfrm flipH="1">
                <a:off x="885625" y="1931699"/>
                <a:ext cx="472502" cy="472662"/>
              </a:xfrm>
              <a:prstGeom prst="ellipse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 fontScale="92500" lnSpcReduction="10000"/>
              </a:bodyPr>
              <a:lstStyle/>
              <a:p>
                <a:pPr algn="ctr"/>
                <a:r>
                  <a:rPr lang="en-US" sz="1800" b="0" i="0" u="none">
                    <a:solidFill>
                      <a:srgbClr val="626AF8"/>
                    </a:solidFill>
                    <a:latin typeface="Arial" panose="020B0604020202020204"/>
                  </a:rPr>
                  <a:t>2</a:t>
                </a:r>
              </a:p>
            </p:txBody>
          </p:sp>
          <p:sp>
            <p:nvSpPr>
              <p:cNvPr id="4" name="Bullet2" descr="0123b2c1-3a64-4e66-82e3-614aee91cc1f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383527" y="1931699"/>
                <a:ext cx="1036059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个性化监控项</a:t>
                </a:r>
              </a:p>
            </p:txBody>
          </p:sp>
          <p:sp>
            <p:nvSpPr>
              <p:cNvPr id="5" name="Text2" descr="917e7a28-91ba-4b88-85a2-3a16b1def3f3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383527" y="2404360"/>
                <a:ext cx="10360598" cy="9359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1200" b="0" i="0" u="none" strike="noStrike">
                    <a:solidFill>
                      <a:srgbClr val="000000"/>
                    </a:solidFill>
                    <a:ea typeface="微软雅黑" panose="020B0503020204020204" charset="-122"/>
                  </a:rPr>
                  <a:t>配置至少两个监控项，并创建一个触发器</a:t>
                </a:r>
                <a:r>
                  <a:rPr lang="en-US" altLang="zh-CN" sz="1200" b="0" i="0" u="none" strike="noStrike">
                    <a:solidFill>
                      <a:srgbClr val="000000"/>
                    </a:solidFill>
                    <a:ea typeface="微软雅黑" panose="020B0503020204020204" charset="-122"/>
                  </a:rPr>
                  <a:t>.</a:t>
                </a:r>
              </a:p>
            </p:txBody>
          </p:sp>
        </p:grpSp>
        <p:grpSp>
          <p:nvGrpSpPr>
            <p:cNvPr id="6" name="组合 5" descr="f7622804-9359-4a7b-9285-c47e98a3a50d"/>
            <p:cNvGrpSpPr/>
            <p:nvPr/>
          </p:nvGrpSpPr>
          <p:grpSpPr>
            <a:xfrm>
              <a:off x="660400" y="4725488"/>
              <a:ext cx="10858500" cy="1408430"/>
              <a:chOff x="885625" y="1931699"/>
              <a:chExt cx="10858500" cy="1408430"/>
            </a:xfrm>
          </p:grpSpPr>
          <p:sp>
            <p:nvSpPr>
              <p:cNvPr id="7" name="Number3" descr="cafaa2e8-c1ed-4f16-82c1-73102866461d"/>
              <p:cNvSpPr/>
              <p:nvPr/>
            </p:nvSpPr>
            <p:spPr>
              <a:xfrm flipH="1">
                <a:off x="885625" y="1931699"/>
                <a:ext cx="472502" cy="472662"/>
              </a:xfrm>
              <a:prstGeom prst="ellipse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 fontScale="92500" lnSpcReduction="10000"/>
              </a:bodyPr>
              <a:lstStyle/>
              <a:p>
                <a:pPr algn="ctr"/>
                <a:r>
                  <a:rPr lang="en-US" sz="1800" b="0" i="0" u="none">
                    <a:solidFill>
                      <a:srgbClr val="626AF8"/>
                    </a:solidFill>
                    <a:latin typeface="Arial" panose="020B0604020202020204"/>
                  </a:rPr>
                  <a:t>3</a:t>
                </a:r>
              </a:p>
            </p:txBody>
          </p:sp>
          <p:sp>
            <p:nvSpPr>
              <p:cNvPr id="11" name="Bullet3" descr="278b1d9e-0b59-4579-a6f5-e7077e538633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383527" y="1931699"/>
                <a:ext cx="10360598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告警触发器</a:t>
                </a:r>
              </a:p>
            </p:txBody>
          </p:sp>
          <p:sp>
            <p:nvSpPr>
              <p:cNvPr id="12" name="Text3" descr="d3129ac9-2476-4a44-9d8d-b370cbd34701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383465" y="2404139"/>
                <a:ext cx="4368800" cy="9359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1200" b="0" i="0" u="none" strike="noStrike">
                    <a:solidFill>
                      <a:srgbClr val="000000"/>
                    </a:solidFill>
                    <a:ea typeface="微软雅黑" panose="020B0503020204020204" charset="-122"/>
                  </a:rPr>
                  <a:t>配置邮件告警媒介，并将触发器动作与邮件告警关联，实现触发告警时能发送邮件到指定邮箱。</a:t>
                </a:r>
              </a:p>
            </p:txBody>
          </p:sp>
        </p:grpSp>
      </p:grpSp>
      <p:sp>
        <p:nvSpPr>
          <p:cNvPr id="9" name="标题 8" descr="986ed6b0-9799-47a5-a099-9370a275831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626AF8"/>
                </a:solidFill>
                <a:ea typeface="微软雅黑" panose="020B0503020204020204" charset="-122"/>
              </a:rPr>
              <a:t>监控</a:t>
            </a:r>
            <a:r>
              <a:rPr lang="zh-CN" altLang="en-US" sz="2800" b="1" i="0" u="none">
                <a:solidFill>
                  <a:srgbClr val="626AF8"/>
                </a:solidFill>
                <a:ea typeface="微软雅黑" panose="020B0503020204020204" charset="-122"/>
              </a:rPr>
              <a:t>系统配置</a:t>
            </a:r>
          </a:p>
        </p:txBody>
      </p:sp>
      <p:pic>
        <p:nvPicPr>
          <p:cNvPr id="13" name="图片 12" descr="origin (4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52440" y="2141855"/>
            <a:ext cx="6548120" cy="339344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标题 24" descr="7f0ea7ff-6ece-4b88-b112-01279104e764"/>
          <p:cNvSpPr>
            <a:spLocks noGrp="1"/>
          </p:cNvSpPr>
          <p:nvPr>
            <p:ph type="title" sz="quarter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200" b="1" i="0" u="none">
                <a:solidFill>
                  <a:srgbClr val="FFFFFF"/>
                </a:solidFill>
                <a:ea typeface="微软雅黑" panose="020B0503020204020204" charset="-122"/>
              </a:rPr>
              <a:t>功能验证与结果展示</a:t>
            </a:r>
          </a:p>
        </p:txBody>
      </p:sp>
      <p:sp>
        <p:nvSpPr>
          <p:cNvPr id="5" name="文本占位符 4" descr="b0e1de57-aa6c-49fa-971a-1b7e0077aa68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1600" b="0" i="0" u="none">
                <a:solidFill>
                  <a:srgbClr val="FFFFFF"/>
                </a:solidFill>
                <a:ea typeface="微软雅黑" panose="020B0503020204020204" charset="-122"/>
              </a:rPr>
              <a:t>本章节集中展示本次课程设计的最终成果，通过一系列关键截图，直观验证各项功能的正确性与协同性。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6d649ebf-74bc-446c-add3-cfd664cd660c.source.4.zh-Hans.pptx" descr="bc63a27b-1aea-41c2-b738-40b47447c723"/>
          <p:cNvGrpSpPr/>
          <p:nvPr/>
        </p:nvGrpSpPr>
        <p:grpSpPr>
          <a:xfrm>
            <a:off x="1" y="1130300"/>
            <a:ext cx="12191999" cy="5727700"/>
            <a:chOff x="1" y="1130300"/>
            <a:chExt cx="12191999" cy="5727700"/>
          </a:xfrm>
        </p:grpSpPr>
        <p:sp>
          <p:nvSpPr>
            <p:cNvPr id="65" name="PictureMisc1" descr="76545929-59d3-4aa2-81bb-bebddd1ac78c"/>
            <p:cNvSpPr/>
            <p:nvPr/>
          </p:nvSpPr>
          <p:spPr>
            <a:xfrm>
              <a:off x="1" y="4454604"/>
              <a:ext cx="12191999" cy="2403396"/>
            </a:xfrm>
            <a:prstGeom prst="rect">
              <a:avLst/>
            </a:prstGeom>
            <a:blipFill rotWithShape="1">
              <a:blip r:embed="rId2"/>
              <a:srcRect/>
              <a:stretch>
                <a:fillRect t="-5341" b="-184535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/>
            </a:p>
          </p:txBody>
        </p:sp>
        <p:sp>
          <p:nvSpPr>
            <p:cNvPr id="10" name="c" descr="484d7e61-108f-43c4-98e9-2b7b5d290acf"/>
            <p:cNvSpPr/>
            <p:nvPr/>
          </p:nvSpPr>
          <p:spPr>
            <a:xfrm>
              <a:off x="598592" y="1824048"/>
              <a:ext cx="5595731" cy="4310052"/>
            </a:xfrm>
            <a:prstGeom prst="roundRect">
              <a:avLst>
                <a:gd name="adj" fmla="val 3015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alpha val="90000"/>
                  </a:schemeClr>
                </a:gs>
              </a:gsLst>
              <a:lin ang="5400000" scaled="1"/>
              <a:tileRect/>
            </a:gradFill>
            <a:ln w="6350">
              <a:gradFill flip="none" rotWithShape="1">
                <a:gsLst>
                  <a:gs pos="0">
                    <a:schemeClr val="tx1">
                      <a:alpha val="50000"/>
                    </a:schemeClr>
                  </a:gs>
                  <a:gs pos="100000">
                    <a:schemeClr val="tx1">
                      <a:alpha val="0"/>
                    </a:schemeClr>
                  </a:gs>
                </a:gsLst>
                <a:lin ang="16200000" scaled="1"/>
                <a:tileRect/>
              </a:gra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 anchorCtr="0">
              <a:normAutofit/>
            </a:bodyPr>
            <a:lstStyle/>
            <a:p>
              <a:pPr algn="ctr">
                <a:lnSpc>
                  <a:spcPct val="120000"/>
                </a:lnSpc>
              </a:pPr>
              <a:endParaRPr/>
            </a:p>
          </p:txBody>
        </p:sp>
        <p:cxnSp>
          <p:nvCxnSpPr>
            <p:cNvPr id="265" name="直接连接符 264" descr="2cfc25a7-b2b4-4450-a953-09bf16f26ca8"/>
            <p:cNvCxnSpPr>
              <a:stCxn id="246" idx="1"/>
              <a:endCxn id="242" idx="3"/>
            </p:cNvCxnSpPr>
            <p:nvPr/>
          </p:nvCxnSpPr>
          <p:spPr>
            <a:xfrm>
              <a:off x="2290877" y="4118583"/>
              <a:ext cx="1985418" cy="0"/>
            </a:xfrm>
            <a:prstGeom prst="line">
              <a:avLst/>
            </a:prstGeom>
            <a:ln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直接连接符 225" descr="a048549a-49c2-4bcc-aecb-b7c95fc9d311"/>
            <p:cNvCxnSpPr>
              <a:stCxn id="72" idx="3"/>
              <a:endCxn id="76" idx="1"/>
            </p:cNvCxnSpPr>
            <p:nvPr/>
          </p:nvCxnSpPr>
          <p:spPr>
            <a:xfrm>
              <a:off x="1811557" y="2100343"/>
              <a:ext cx="2126655" cy="13289"/>
            </a:xfrm>
            <a:prstGeom prst="line">
              <a:avLst/>
            </a:prstGeom>
            <a:ln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Title" descr="611681a0-af0c-4c33-94eb-2a4d6841d92e"/>
            <p:cNvSpPr/>
            <p:nvPr/>
          </p:nvSpPr>
          <p:spPr>
            <a:xfrm>
              <a:off x="660399" y="1130300"/>
              <a:ext cx="5533924" cy="608093"/>
            </a:xfrm>
            <a:prstGeom prst="rect">
              <a:avLst/>
            </a:prstGeom>
            <a:noFill/>
            <a:ln w="762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 anchorCtr="0">
              <a:normAutofit fontScale="87500" lnSpcReduction="20000"/>
            </a:bodyPr>
            <a:lstStyle/>
            <a:p>
              <a:pPr algn="l"/>
              <a:r>
                <a:rPr lang="en-US" sz="2400" b="1" i="0" u="none" dirty="0" err="1" smtClean="0">
                  <a:solidFill>
                    <a:srgbClr val="000000"/>
                  </a:solidFill>
                  <a:ea typeface="微软雅黑" panose="020B0503020204020204" charset="-122"/>
                </a:rPr>
                <a:t>对自动化部署的各类服务进行最终验证，确保Ansible、Docker、Zabbix协同工作</a:t>
              </a:r>
              <a:r>
                <a:rPr lang="en-US" sz="2400" b="1" i="0" u="none" dirty="0" smtClean="0">
                  <a:solidFill>
                    <a:srgbClr val="000000"/>
                  </a:solidFill>
                  <a:ea typeface="微软雅黑" panose="020B0503020204020204" charset="-122"/>
                </a:rPr>
                <a:t>。</a:t>
              </a:r>
              <a:endParaRPr lang="en-US" sz="2400" b="1" i="0" u="none" dirty="0">
                <a:solidFill>
                  <a:srgbClr val="000000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15" name="组合 14" descr="3f65857c-32bb-415a-944c-5fe257b38d86"/>
            <p:cNvGrpSpPr/>
            <p:nvPr/>
          </p:nvGrpSpPr>
          <p:grpSpPr>
            <a:xfrm>
              <a:off x="666750" y="1950610"/>
              <a:ext cx="5306495" cy="1691227"/>
              <a:chOff x="666750" y="1950610"/>
              <a:chExt cx="5306495" cy="1691227"/>
            </a:xfrm>
          </p:grpSpPr>
          <p:sp>
            <p:nvSpPr>
              <p:cNvPr id="95" name="Bullet1" descr="e2f241c9-a8da-4eb6-98de-5d61df4cce37"/>
              <p:cNvSpPr txBox="1"/>
              <p:nvPr/>
            </p:nvSpPr>
            <p:spPr>
              <a:xfrm>
                <a:off x="666750" y="2428129"/>
                <a:ext cx="5306495" cy="6579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000000"/>
                    </a:solidFill>
                    <a:latin typeface="Arial" panose="020B0604020202020204"/>
                  </a:rPr>
                  <a:t>Nginx服务</a:t>
                </a:r>
              </a:p>
            </p:txBody>
          </p:sp>
          <p:sp>
            <p:nvSpPr>
              <p:cNvPr id="96" name="Text1" descr="c359a770-2cff-4206-8a30-a5fd8edda037"/>
              <p:cNvSpPr txBox="1"/>
              <p:nvPr/>
            </p:nvSpPr>
            <p:spPr>
              <a:xfrm>
                <a:off x="666750" y="3086097"/>
                <a:ext cx="2289614" cy="555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 dirty="0" err="1">
                    <a:solidFill>
                      <a:srgbClr val="000000"/>
                    </a:solidFill>
                    <a:ea typeface="微软雅黑" panose="020B0503020204020204" charset="-122"/>
                  </a:rPr>
                  <a:t>再次访问两个节点的Nginx页面，确认内容无误</a:t>
                </a:r>
                <a:r>
                  <a:rPr lang="en-US" sz="1200" b="0" i="0" u="none" strike="noStrike" dirty="0">
                    <a:solidFill>
                      <a:srgbClr val="000000"/>
                    </a:solidFill>
                    <a:ea typeface="微软雅黑" panose="020B0503020204020204" charset="-122"/>
                  </a:rPr>
                  <a:t>。</a:t>
                </a:r>
              </a:p>
            </p:txBody>
          </p:sp>
          <p:sp>
            <p:nvSpPr>
              <p:cNvPr id="72" name="Number1" descr="255f2870-45c2-4287-a592-893c43290bde"/>
              <p:cNvSpPr txBox="1"/>
              <p:nvPr/>
            </p:nvSpPr>
            <p:spPr>
              <a:xfrm>
                <a:off x="908755" y="1950610"/>
                <a:ext cx="902802" cy="299465"/>
              </a:xfrm>
              <a:prstGeom prst="chevron">
                <a:avLst>
                  <a:gd name="adj" fmla="val 37840"/>
                </a:avLst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/>
              </a:bodyPr>
              <a:lstStyle>
                <a:defPPr>
                  <a:defRPr lang="en-US"/>
                </a:defPPr>
                <a:lvl1pPr algn="ctr">
                  <a:defRPr sz="1000" b="1">
                    <a:solidFill>
                      <a:schemeClr val="accen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lang="en-US" sz="1200" b="1" i="0" u="none">
                    <a:solidFill>
                      <a:srgbClr val="626AF8"/>
                    </a:solidFill>
                    <a:latin typeface="Arial" panose="020B0604020202020204"/>
                  </a:rPr>
                  <a:t>1</a:t>
                </a:r>
              </a:p>
            </p:txBody>
          </p:sp>
        </p:grpSp>
        <p:grpSp>
          <p:nvGrpSpPr>
            <p:cNvPr id="16" name="组合 15" descr="dfa82fcc-b181-4326-940a-836376470a02"/>
            <p:cNvGrpSpPr/>
            <p:nvPr/>
          </p:nvGrpSpPr>
          <p:grpSpPr>
            <a:xfrm>
              <a:off x="3684975" y="1963899"/>
              <a:ext cx="5344444" cy="1694329"/>
              <a:chOff x="3684975" y="1963899"/>
              <a:chExt cx="5344444" cy="1694329"/>
            </a:xfrm>
          </p:grpSpPr>
          <p:sp>
            <p:nvSpPr>
              <p:cNvPr id="77" name="Bullet2" descr="6a08fd09-a145-4c4b-b444-a454bb556ebf"/>
              <p:cNvSpPr txBox="1"/>
              <p:nvPr/>
            </p:nvSpPr>
            <p:spPr>
              <a:xfrm>
                <a:off x="3722924" y="2488152"/>
                <a:ext cx="5306495" cy="6579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 dirty="0" err="1">
                    <a:solidFill>
                      <a:srgbClr val="000000"/>
                    </a:solidFill>
                    <a:ea typeface="微软雅黑" panose="020B0503020204020204" charset="-122"/>
                  </a:rPr>
                  <a:t>数据库服务</a:t>
                </a:r>
                <a:endParaRPr lang="en-US" sz="1800" b="1" i="0" u="none" dirty="0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78" name="Text2" descr="42f389bd-2862-4909-b280-e8d8bf440bb2"/>
              <p:cNvSpPr txBox="1"/>
              <p:nvPr/>
            </p:nvSpPr>
            <p:spPr>
              <a:xfrm>
                <a:off x="3684975" y="3043755"/>
                <a:ext cx="2085442" cy="6144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1200" dirty="0">
                    <a:solidFill>
                      <a:srgbClr val="000000"/>
                    </a:solidFill>
                    <a:ea typeface="微软雅黑" panose="020B0503020204020204" charset="-122"/>
                  </a:rPr>
                  <a:t>验证能通过命令行或客户端工具连接至数据库。</a:t>
                </a:r>
              </a:p>
            </p:txBody>
          </p:sp>
          <p:sp>
            <p:nvSpPr>
              <p:cNvPr id="76" name="Number2" descr="b1c60640-d9e4-4dc6-9ef5-ad5f7ca361c2"/>
              <p:cNvSpPr txBox="1"/>
              <p:nvPr/>
            </p:nvSpPr>
            <p:spPr>
              <a:xfrm>
                <a:off x="3824894" y="1963899"/>
                <a:ext cx="902802" cy="299465"/>
              </a:xfrm>
              <a:prstGeom prst="chevron">
                <a:avLst>
                  <a:gd name="adj" fmla="val 37840"/>
                </a:avLst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/>
              </a:bodyPr>
              <a:lstStyle>
                <a:defPPr>
                  <a:defRPr lang="en-US"/>
                </a:defPPr>
                <a:lvl1pPr algn="ctr">
                  <a:defRPr sz="1000" b="1">
                    <a:solidFill>
                      <a:schemeClr val="accen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lang="en-US" sz="1200" b="1" i="0" u="none" dirty="0">
                    <a:solidFill>
                      <a:srgbClr val="626AF8"/>
                    </a:solidFill>
                    <a:latin typeface="Arial" panose="020B0604020202020204"/>
                  </a:rPr>
                  <a:t>2</a:t>
                </a:r>
              </a:p>
            </p:txBody>
          </p:sp>
        </p:grpSp>
        <p:grpSp>
          <p:nvGrpSpPr>
            <p:cNvPr id="17" name="组合 16" descr="068a29ca-f1ae-4f48-aed7-04f70498c990"/>
            <p:cNvGrpSpPr/>
            <p:nvPr/>
          </p:nvGrpSpPr>
          <p:grpSpPr>
            <a:xfrm>
              <a:off x="3473776" y="3968850"/>
              <a:ext cx="5306495" cy="1686212"/>
              <a:chOff x="3473776" y="3968850"/>
              <a:chExt cx="5306495" cy="1686212"/>
            </a:xfrm>
          </p:grpSpPr>
          <p:sp>
            <p:nvSpPr>
              <p:cNvPr id="240" name="Bullet3" descr="f11a31aa-2df8-40e1-9d08-9e4d02308150"/>
              <p:cNvSpPr txBox="1"/>
              <p:nvPr/>
            </p:nvSpPr>
            <p:spPr>
              <a:xfrm>
                <a:off x="3473776" y="4485791"/>
                <a:ext cx="5306495" cy="6579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 dirty="0" err="1">
                    <a:solidFill>
                      <a:srgbClr val="000000"/>
                    </a:solidFill>
                    <a:latin typeface="Arial" panose="020B0604020202020204"/>
                  </a:rPr>
                  <a:t>WordPress博客</a:t>
                </a:r>
                <a:endParaRPr lang="en-US" sz="1800" b="1" i="0" u="none" dirty="0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241" name="Text3" descr="3b629dbe-f07e-4768-8a22-1a0128b5540c"/>
              <p:cNvSpPr txBox="1"/>
              <p:nvPr/>
            </p:nvSpPr>
            <p:spPr>
              <a:xfrm>
                <a:off x="3479174" y="5162246"/>
                <a:ext cx="2121061" cy="4928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 dirty="0" err="1">
                    <a:solidFill>
                      <a:srgbClr val="000000"/>
                    </a:solidFill>
                    <a:ea typeface="微软雅黑" panose="020B0503020204020204" charset="-122"/>
                  </a:rPr>
                  <a:t>完成</a:t>
                </a:r>
                <a:r>
                  <a:rPr lang="en-US" sz="1200" b="0" i="0" u="none" strike="noStrike" dirty="0" err="1" smtClean="0">
                    <a:solidFill>
                      <a:srgbClr val="000000"/>
                    </a:solidFill>
                    <a:ea typeface="微软雅黑" panose="020B0503020204020204" charset="-122"/>
                  </a:rPr>
                  <a:t>WordPress</a:t>
                </a:r>
                <a:r>
                  <a:rPr lang="en-US" sz="1200" b="0" i="0" u="none" strike="noStrike" dirty="0" smtClean="0">
                    <a:solidFill>
                      <a:srgbClr val="000000"/>
                    </a:solidFill>
                    <a:ea typeface="微软雅黑" panose="020B0503020204020204" charset="-122"/>
                  </a:rPr>
                  <a:t>。</a:t>
                </a:r>
                <a:endParaRPr lang="en-US" sz="1200" b="0" i="0" u="none" strike="noStrike" dirty="0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42" name="Number3" descr="cd47b182-dfa2-4b4e-b103-54b06dbe22cc"/>
              <p:cNvSpPr txBox="1"/>
              <p:nvPr/>
            </p:nvSpPr>
            <p:spPr>
              <a:xfrm flipH="1">
                <a:off x="4276295" y="3968850"/>
                <a:ext cx="902802" cy="299465"/>
              </a:xfrm>
              <a:prstGeom prst="chevron">
                <a:avLst>
                  <a:gd name="adj" fmla="val 37840"/>
                </a:avLst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/>
              </a:bodyPr>
              <a:lstStyle>
                <a:defPPr>
                  <a:defRPr lang="en-US"/>
                </a:defPPr>
                <a:lvl1pPr algn="ctr">
                  <a:defRPr sz="1000" b="1">
                    <a:solidFill>
                      <a:schemeClr val="accen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lang="en-US" sz="1200" b="1" i="0" u="none">
                    <a:solidFill>
                      <a:srgbClr val="626AF8"/>
                    </a:solidFill>
                    <a:latin typeface="Arial" panose="020B0604020202020204"/>
                  </a:rPr>
                  <a:t>3</a:t>
                </a:r>
              </a:p>
            </p:txBody>
          </p:sp>
        </p:grpSp>
        <p:grpSp>
          <p:nvGrpSpPr>
            <p:cNvPr id="18" name="组合 17" descr="e17b95c0-e3b6-4271-b198-412a8a5c5252"/>
            <p:cNvGrpSpPr/>
            <p:nvPr/>
          </p:nvGrpSpPr>
          <p:grpSpPr>
            <a:xfrm>
              <a:off x="598591" y="3968850"/>
              <a:ext cx="2813377" cy="2043229"/>
              <a:chOff x="598591" y="3968850"/>
              <a:chExt cx="2813377" cy="2043229"/>
            </a:xfrm>
          </p:grpSpPr>
          <p:sp>
            <p:nvSpPr>
              <p:cNvPr id="244" name="Bullet4" descr="191fd3d5-7880-43bc-8b12-cdf85a9c1ccf"/>
              <p:cNvSpPr txBox="1"/>
              <p:nvPr/>
            </p:nvSpPr>
            <p:spPr>
              <a:xfrm>
                <a:off x="598591" y="4445598"/>
                <a:ext cx="2813377" cy="6579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000000"/>
                    </a:solidFill>
                    <a:latin typeface="Arial" panose="020B0604020202020204"/>
                  </a:rPr>
                  <a:t>Zabbix监控数据</a:t>
                </a:r>
              </a:p>
            </p:txBody>
          </p:sp>
          <p:sp>
            <p:nvSpPr>
              <p:cNvPr id="245" name="Text4" descr="63de6131-c945-48e9-9bd3-5154bd1731a5"/>
              <p:cNvSpPr txBox="1"/>
              <p:nvPr/>
            </p:nvSpPr>
            <p:spPr>
              <a:xfrm>
                <a:off x="660400" y="5104476"/>
                <a:ext cx="2141793" cy="9076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 dirty="0" err="1">
                    <a:solidFill>
                      <a:srgbClr val="000000"/>
                    </a:solidFill>
                    <a:ea typeface="微软雅黑" panose="020B0503020204020204" charset="-122"/>
                  </a:rPr>
                  <a:t>展示Zabbix监控仪表盘，包含所有主机的CPU、内存、磁盘等实时监控数据图表</a:t>
                </a:r>
                <a:r>
                  <a:rPr lang="en-US" sz="1200" b="0" i="0" u="none" strike="noStrike" dirty="0">
                    <a:solidFill>
                      <a:srgbClr val="000000"/>
                    </a:solidFill>
                    <a:ea typeface="微软雅黑" panose="020B0503020204020204" charset="-122"/>
                  </a:rPr>
                  <a:t>。</a:t>
                </a:r>
              </a:p>
            </p:txBody>
          </p:sp>
          <p:sp>
            <p:nvSpPr>
              <p:cNvPr id="246" name="Number4" descr="8029407f-181a-4b44-9c13-56537a281725"/>
              <p:cNvSpPr txBox="1"/>
              <p:nvPr/>
            </p:nvSpPr>
            <p:spPr>
              <a:xfrm flipH="1">
                <a:off x="1501393" y="3968850"/>
                <a:ext cx="902802" cy="299465"/>
              </a:xfrm>
              <a:prstGeom prst="chevron">
                <a:avLst>
                  <a:gd name="adj" fmla="val 37840"/>
                </a:avLst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/>
              </a:bodyPr>
              <a:lstStyle>
                <a:defPPr>
                  <a:defRPr lang="en-US"/>
                </a:defPPr>
                <a:lvl1pPr algn="ctr">
                  <a:defRPr sz="1000" b="1">
                    <a:solidFill>
                      <a:schemeClr val="accen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lang="en-US" sz="1200" b="1" i="0" u="none" dirty="0">
                    <a:solidFill>
                      <a:srgbClr val="626AF8"/>
                    </a:solidFill>
                    <a:latin typeface="Arial" panose="020B0604020202020204"/>
                  </a:rPr>
                  <a:t>4</a:t>
                </a:r>
              </a:p>
            </p:txBody>
          </p:sp>
        </p:grpSp>
      </p:grpSp>
      <p:sp>
        <p:nvSpPr>
          <p:cNvPr id="6" name="标题 5" descr="986ed6b0-9799-47a5-a099-9370a275831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 dirty="0" err="1">
                <a:solidFill>
                  <a:srgbClr val="626AF8"/>
                </a:solidFill>
                <a:ea typeface="微软雅黑" panose="020B0503020204020204" charset="-122"/>
              </a:rPr>
              <a:t>综合功能验证</a:t>
            </a:r>
            <a:endParaRPr lang="en-US" sz="2800" b="1" i="0" u="none" dirty="0">
              <a:solidFill>
                <a:srgbClr val="626AF8"/>
              </a:solidFill>
              <a:ea typeface="微软雅黑" panose="020B0503020204020204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200" y="1854738"/>
            <a:ext cx="4706520" cy="233497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200" y="4360896"/>
            <a:ext cx="4706520" cy="2487384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3283" y="144305"/>
            <a:ext cx="4706520" cy="1536156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标题 24" descr="7f0ea7ff-6ece-4b88-b112-01279104e764"/>
          <p:cNvSpPr>
            <a:spLocks noGrp="1"/>
          </p:cNvSpPr>
          <p:nvPr>
            <p:ph type="title" sz="quarter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200" b="1" i="0" u="none">
                <a:solidFill>
                  <a:srgbClr val="FFFFFF"/>
                </a:solidFill>
                <a:ea typeface="微软雅黑" panose="020B0503020204020204" charset="-122"/>
              </a:rPr>
              <a:t>总结与思考</a:t>
            </a:r>
          </a:p>
        </p:txBody>
      </p:sp>
      <p:sp>
        <p:nvSpPr>
          <p:cNvPr id="5" name="文本占位符 4" descr="b0e1de57-aa6c-49fa-971a-1b7e0077aa68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1600" b="0" i="0" u="none" dirty="0" err="1">
                <a:solidFill>
                  <a:srgbClr val="FFFFFF"/>
                </a:solidFill>
                <a:ea typeface="微软雅黑" panose="020B0503020204020204" charset="-122"/>
              </a:rPr>
              <a:t>本章节对本次课程设计进行总结，</a:t>
            </a:r>
            <a:r>
              <a:rPr lang="en-US" sz="1600" b="0" i="0" u="none" dirty="0" err="1" smtClean="0">
                <a:solidFill>
                  <a:srgbClr val="FFFFFF"/>
                </a:solidFill>
                <a:ea typeface="微软雅黑" panose="020B0503020204020204" charset="-122"/>
              </a:rPr>
              <a:t>回顾关键技术要点与实践收</a:t>
            </a:r>
            <a:r>
              <a:rPr lang="zh-CN" altLang="en-US" sz="1600" b="0" i="0" u="none" dirty="0" smtClean="0">
                <a:solidFill>
                  <a:srgbClr val="FFFFFF"/>
                </a:solidFill>
                <a:ea typeface="微软雅黑" panose="020B0503020204020204" charset="-122"/>
              </a:rPr>
              <a:t>获</a:t>
            </a:r>
            <a:r>
              <a:rPr lang="en-US" sz="1600" b="0" i="0" u="none" dirty="0" smtClean="0">
                <a:solidFill>
                  <a:srgbClr val="FFFFFF"/>
                </a:solidFill>
                <a:ea typeface="微软雅黑" panose="020B0503020204020204" charset="-122"/>
              </a:rPr>
              <a:t>。</a:t>
            </a:r>
            <a:endParaRPr lang="en-US" sz="1600" b="0" i="0" u="none" dirty="0">
              <a:solidFill>
                <a:srgbClr val="FFFFFF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019d5a39-64ee-419a-a374-09444675d919.source.3.zh-Hans.pptx" descr="8e4f4f5d-e015-4766-a449-5bb091300c81"/>
          <p:cNvGrpSpPr/>
          <p:nvPr/>
        </p:nvGrpSpPr>
        <p:grpSpPr>
          <a:xfrm>
            <a:off x="660399" y="884781"/>
            <a:ext cx="10858501" cy="5249319"/>
            <a:chOff x="660399" y="884781"/>
            <a:chExt cx="10858501" cy="5249319"/>
          </a:xfrm>
        </p:grpSpPr>
        <p:sp>
          <p:nvSpPr>
            <p:cNvPr id="2" name="Title" descr="95f8d092-a8e9-47fa-9cfa-235fe51ccac0"/>
            <p:cNvSpPr txBox="1"/>
            <p:nvPr/>
          </p:nvSpPr>
          <p:spPr>
            <a:xfrm>
              <a:off x="660400" y="1130300"/>
              <a:ext cx="6913669" cy="770708"/>
            </a:xfrm>
            <a:prstGeom prst="rect">
              <a:avLst/>
            </a:prstGeom>
            <a:noFill/>
          </p:spPr>
          <p:txBody>
            <a:bodyPr vert="horz" wrap="square" rtlCol="0" anchor="t" anchorCtr="0">
              <a:normAutofit fontScale="92500" lnSpcReduction="20000"/>
            </a:bodyPr>
            <a:lstStyle/>
            <a:p>
              <a:pPr algn="l">
                <a:lnSpc>
                  <a:spcPct val="120000"/>
                </a:lnSpc>
              </a:pPr>
              <a:r>
                <a:rPr lang="en-US" sz="2400" b="1" i="0" u="none">
                  <a:solidFill>
                    <a:srgbClr val="000000"/>
                  </a:solidFill>
                  <a:ea typeface="微软雅黑" panose="020B0503020204020204" charset="-122"/>
                </a:rPr>
                <a:t>通过本次实践，深入理解了云数据中心自动化、容器化、监控三大核心要素的协同作用。</a:t>
              </a:r>
            </a:p>
          </p:txBody>
        </p:sp>
        <p:sp>
          <p:nvSpPr>
            <p:cNvPr id="4" name="任意多边形: 形状 3" descr="08837953-82a3-4b3a-97ff-d1fcb70049b3"/>
            <p:cNvSpPr/>
            <p:nvPr/>
          </p:nvSpPr>
          <p:spPr>
            <a:xfrm>
              <a:off x="770847" y="884781"/>
              <a:ext cx="1058129" cy="107213"/>
            </a:xfrm>
            <a:custGeom>
              <a:avLst/>
              <a:gdLst>
                <a:gd name="connsiteX0" fmla="*/ 856106 w 1058129"/>
                <a:gd name="connsiteY0" fmla="*/ 0 h 107213"/>
                <a:gd name="connsiteX1" fmla="*/ 1058129 w 1058129"/>
                <a:gd name="connsiteY1" fmla="*/ 0 h 107213"/>
                <a:gd name="connsiteX2" fmla="*/ 887698 w 1058129"/>
                <a:gd name="connsiteY2" fmla="*/ 107213 h 107213"/>
                <a:gd name="connsiteX3" fmla="*/ 685674 w 1058129"/>
                <a:gd name="connsiteY3" fmla="*/ 107213 h 107213"/>
                <a:gd name="connsiteX4" fmla="*/ 513164 w 1058129"/>
                <a:gd name="connsiteY4" fmla="*/ 0 h 107213"/>
                <a:gd name="connsiteX5" fmla="*/ 715187 w 1058129"/>
                <a:gd name="connsiteY5" fmla="*/ 0 h 107213"/>
                <a:gd name="connsiteX6" fmla="*/ 544756 w 1058129"/>
                <a:gd name="connsiteY6" fmla="*/ 107213 h 107213"/>
                <a:gd name="connsiteX7" fmla="*/ 342732 w 1058129"/>
                <a:gd name="connsiteY7" fmla="*/ 107213 h 107213"/>
                <a:gd name="connsiteX8" fmla="*/ 170432 w 1058129"/>
                <a:gd name="connsiteY8" fmla="*/ 0 h 107213"/>
                <a:gd name="connsiteX9" fmla="*/ 372455 w 1058129"/>
                <a:gd name="connsiteY9" fmla="*/ 0 h 107213"/>
                <a:gd name="connsiteX10" fmla="*/ 202024 w 1058129"/>
                <a:gd name="connsiteY10" fmla="*/ 107213 h 107213"/>
                <a:gd name="connsiteX11" fmla="*/ 0 w 1058129"/>
                <a:gd name="connsiteY11" fmla="*/ 107213 h 107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58129" h="107213">
                  <a:moveTo>
                    <a:pt x="856106" y="0"/>
                  </a:moveTo>
                  <a:lnTo>
                    <a:pt x="1058129" y="0"/>
                  </a:lnTo>
                  <a:lnTo>
                    <a:pt x="887698" y="107213"/>
                  </a:lnTo>
                  <a:lnTo>
                    <a:pt x="685674" y="107213"/>
                  </a:lnTo>
                  <a:close/>
                  <a:moveTo>
                    <a:pt x="513164" y="0"/>
                  </a:moveTo>
                  <a:lnTo>
                    <a:pt x="715187" y="0"/>
                  </a:lnTo>
                  <a:lnTo>
                    <a:pt x="544756" y="107213"/>
                  </a:lnTo>
                  <a:lnTo>
                    <a:pt x="342732" y="107213"/>
                  </a:lnTo>
                  <a:close/>
                  <a:moveTo>
                    <a:pt x="170432" y="0"/>
                  </a:moveTo>
                  <a:lnTo>
                    <a:pt x="372455" y="0"/>
                  </a:lnTo>
                  <a:lnTo>
                    <a:pt x="202024" y="107213"/>
                  </a:lnTo>
                  <a:lnTo>
                    <a:pt x="0" y="10721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cxnSp>
          <p:nvCxnSpPr>
            <p:cNvPr id="5" name="直接连接符 4" descr="451f9a66-2b31-4bf2-ba64-d1eea6381bf3"/>
            <p:cNvCxnSpPr/>
            <p:nvPr/>
          </p:nvCxnSpPr>
          <p:spPr>
            <a:xfrm>
              <a:off x="660399" y="1028700"/>
              <a:ext cx="10858500" cy="0"/>
            </a:xfrm>
            <a:prstGeom prst="line">
              <a:avLst/>
            </a:prstGeom>
            <a:ln>
              <a:solidFill>
                <a:schemeClr val="accent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组合 17" descr="7c4bc936-b0f7-45ea-b9a8-75dee979b196"/>
            <p:cNvGrpSpPr/>
            <p:nvPr/>
          </p:nvGrpSpPr>
          <p:grpSpPr>
            <a:xfrm>
              <a:off x="660400" y="1986034"/>
              <a:ext cx="4660537" cy="1976969"/>
              <a:chOff x="660400" y="1986034"/>
              <a:chExt cx="4660537" cy="1976969"/>
            </a:xfrm>
          </p:grpSpPr>
          <p:sp>
            <p:nvSpPr>
              <p:cNvPr id="21" name="矩形: 圆角 20" descr="f2a56780-143b-4af1-9620-01ffb76acebb"/>
              <p:cNvSpPr/>
              <p:nvPr/>
            </p:nvSpPr>
            <p:spPr>
              <a:xfrm>
                <a:off x="660400" y="2477071"/>
                <a:ext cx="4660537" cy="1463073"/>
              </a:xfrm>
              <a:prstGeom prst="roundRect">
                <a:avLst>
                  <a:gd name="adj" fmla="val 4325"/>
                </a:avLst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6" name="任意多边形: 形状 5" descr="7a765535-fed7-4f53-9275-3c9c7104e72c"/>
              <p:cNvSpPr/>
              <p:nvPr/>
            </p:nvSpPr>
            <p:spPr>
              <a:xfrm>
                <a:off x="2647937" y="1986034"/>
                <a:ext cx="372453" cy="107211"/>
              </a:xfrm>
              <a:custGeom>
                <a:avLst/>
                <a:gdLst>
                  <a:gd name="connsiteX0" fmla="*/ 92583 w 170687"/>
                  <a:gd name="connsiteY0" fmla="*/ 78105 h 78104"/>
                  <a:gd name="connsiteX1" fmla="*/ 0 w 170687"/>
                  <a:gd name="connsiteY1" fmla="*/ 78105 h 78104"/>
                  <a:gd name="connsiteX2" fmla="*/ 78105 w 170687"/>
                  <a:gd name="connsiteY2" fmla="*/ 0 h 78104"/>
                  <a:gd name="connsiteX3" fmla="*/ 170688 w 170687"/>
                  <a:gd name="connsiteY3" fmla="*/ 0 h 78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0687" h="78104">
                    <a:moveTo>
                      <a:pt x="92583" y="78105"/>
                    </a:moveTo>
                    <a:lnTo>
                      <a:pt x="0" y="78105"/>
                    </a:lnTo>
                    <a:lnTo>
                      <a:pt x="78105" y="0"/>
                    </a:lnTo>
                    <a:lnTo>
                      <a:pt x="17068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  <a:endParaRPr/>
              </a:p>
            </p:txBody>
          </p:sp>
          <p:sp>
            <p:nvSpPr>
              <p:cNvPr id="7" name="任意多边形: 形状 6" descr="0e063e06-a5e2-43d5-8acf-3fdd3f02999b"/>
              <p:cNvSpPr/>
              <p:nvPr/>
            </p:nvSpPr>
            <p:spPr>
              <a:xfrm>
                <a:off x="2990669" y="1986034"/>
                <a:ext cx="372453" cy="107211"/>
              </a:xfrm>
              <a:custGeom>
                <a:avLst/>
                <a:gdLst>
                  <a:gd name="connsiteX0" fmla="*/ 92583 w 170687"/>
                  <a:gd name="connsiteY0" fmla="*/ 78105 h 78104"/>
                  <a:gd name="connsiteX1" fmla="*/ 0 w 170687"/>
                  <a:gd name="connsiteY1" fmla="*/ 78105 h 78104"/>
                  <a:gd name="connsiteX2" fmla="*/ 78105 w 170687"/>
                  <a:gd name="connsiteY2" fmla="*/ 0 h 78104"/>
                  <a:gd name="connsiteX3" fmla="*/ 170688 w 170687"/>
                  <a:gd name="connsiteY3" fmla="*/ 0 h 78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0687" h="78104">
                    <a:moveTo>
                      <a:pt x="92583" y="78105"/>
                    </a:moveTo>
                    <a:lnTo>
                      <a:pt x="0" y="78105"/>
                    </a:lnTo>
                    <a:lnTo>
                      <a:pt x="78105" y="0"/>
                    </a:lnTo>
                    <a:lnTo>
                      <a:pt x="17068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  <a:endParaRPr/>
              </a:p>
            </p:txBody>
          </p:sp>
          <p:sp>
            <p:nvSpPr>
              <p:cNvPr id="8" name="任意多边形: 形状 7" descr="dfe690c9-cc58-4036-8b53-fddb5428f817"/>
              <p:cNvSpPr/>
              <p:nvPr/>
            </p:nvSpPr>
            <p:spPr>
              <a:xfrm>
                <a:off x="3333611" y="1986034"/>
                <a:ext cx="372453" cy="107211"/>
              </a:xfrm>
              <a:custGeom>
                <a:avLst/>
                <a:gdLst>
                  <a:gd name="connsiteX0" fmla="*/ 92583 w 170687"/>
                  <a:gd name="connsiteY0" fmla="*/ 78105 h 78104"/>
                  <a:gd name="connsiteX1" fmla="*/ 0 w 170687"/>
                  <a:gd name="connsiteY1" fmla="*/ 78105 h 78104"/>
                  <a:gd name="connsiteX2" fmla="*/ 78105 w 170687"/>
                  <a:gd name="connsiteY2" fmla="*/ 0 h 78104"/>
                  <a:gd name="connsiteX3" fmla="*/ 170688 w 170687"/>
                  <a:gd name="connsiteY3" fmla="*/ 0 h 78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0687" h="78104">
                    <a:moveTo>
                      <a:pt x="92583" y="78105"/>
                    </a:moveTo>
                    <a:lnTo>
                      <a:pt x="0" y="78105"/>
                    </a:lnTo>
                    <a:lnTo>
                      <a:pt x="78105" y="0"/>
                    </a:lnTo>
                    <a:lnTo>
                      <a:pt x="17068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  <a:endParaRPr/>
              </a:p>
            </p:txBody>
          </p:sp>
          <p:sp>
            <p:nvSpPr>
              <p:cNvPr id="67" name="平行四边形 66" descr="54f8c7c9-7b23-4b3a-a2b4-c82364ed73cf"/>
              <p:cNvSpPr/>
              <p:nvPr/>
            </p:nvSpPr>
            <p:spPr>
              <a:xfrm>
                <a:off x="4636664" y="3917284"/>
                <a:ext cx="467150" cy="45719"/>
              </a:xfrm>
              <a:prstGeom prst="parallelogram">
                <a:avLst>
                  <a:gd name="adj" fmla="val 53255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/>
              </a:p>
            </p:txBody>
          </p:sp>
          <p:grpSp>
            <p:nvGrpSpPr>
              <p:cNvPr id="13" name="组合 12" descr="046ee451-6bba-4eee-85de-03b7714c9795"/>
              <p:cNvGrpSpPr/>
              <p:nvPr/>
            </p:nvGrpSpPr>
            <p:grpSpPr>
              <a:xfrm>
                <a:off x="807980" y="2093245"/>
                <a:ext cx="4346947" cy="1738527"/>
                <a:chOff x="807980" y="2093245"/>
                <a:chExt cx="4346947" cy="1738527"/>
              </a:xfrm>
            </p:grpSpPr>
            <p:sp>
              <p:nvSpPr>
                <p:cNvPr id="10" name="Bullet1" descr="51db551a-e8c1-4a12-a62d-8f4f9c1d406f"/>
                <p:cNvSpPr txBox="1"/>
                <p:nvPr/>
              </p:nvSpPr>
              <p:spPr>
                <a:xfrm>
                  <a:off x="807981" y="2093245"/>
                  <a:ext cx="3144817" cy="61245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txBody>
                <a:bodyPr wrap="square" lIns="91440" tIns="45720" rIns="91440" bIns="45720" anchor="ctr" anchorCtr="0">
                  <a:normAutofit/>
                </a:bodyPr>
                <a:lstStyle/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600" b="1" i="0" u="none" strike="noStrike">
                      <a:solidFill>
                        <a:srgbClr val="000000"/>
                      </a:solidFill>
                      <a:latin typeface="Arial" panose="020B0604020202020204"/>
                    </a:rPr>
                    <a:t>Ansible自动化</a:t>
                  </a:r>
                </a:p>
              </p:txBody>
            </p:sp>
            <p:sp>
              <p:nvSpPr>
                <p:cNvPr id="11" name="Text1" descr="169d9d91-2fff-4361-b108-ee261f3f1824"/>
                <p:cNvSpPr txBox="1"/>
                <p:nvPr/>
              </p:nvSpPr>
              <p:spPr>
                <a:xfrm>
                  <a:off x="807980" y="2749244"/>
                  <a:ext cx="4346947" cy="10825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200" b="0" i="0" u="none" strike="noStrike" dirty="0" err="1">
                      <a:solidFill>
                        <a:srgbClr val="000000"/>
                      </a:solidFill>
                      <a:ea typeface="微软雅黑" panose="020B0503020204020204" charset="-122"/>
                    </a:rPr>
                    <a:t>掌握了使用Ansible进行批量配置管理、应用部署的核心流程，</a:t>
                  </a:r>
                  <a:r>
                    <a:rPr lang="en-US" sz="1200" b="0" i="0" u="none" strike="noStrike" dirty="0" err="1" smtClean="0">
                      <a:solidFill>
                        <a:srgbClr val="000000"/>
                      </a:solidFill>
                      <a:ea typeface="微软雅黑" panose="020B0503020204020204" charset="-122"/>
                    </a:rPr>
                    <a:t>体验了基础设施即代码的魅力</a:t>
                  </a:r>
                  <a:r>
                    <a:rPr lang="en-US" sz="1200" b="0" i="0" u="none" strike="noStrike" dirty="0">
                      <a:solidFill>
                        <a:srgbClr val="000000"/>
                      </a:solidFill>
                      <a:ea typeface="微软雅黑" panose="020B0503020204020204" charset="-122"/>
                    </a:rPr>
                    <a:t>。</a:t>
                  </a:r>
                </a:p>
              </p:txBody>
            </p:sp>
          </p:grpSp>
        </p:grpSp>
        <p:grpSp>
          <p:nvGrpSpPr>
            <p:cNvPr id="19" name="组合 18" descr="fea07d5d-b919-45a7-a85a-53641eaa22ec"/>
            <p:cNvGrpSpPr/>
            <p:nvPr/>
          </p:nvGrpSpPr>
          <p:grpSpPr>
            <a:xfrm>
              <a:off x="6858363" y="1986034"/>
              <a:ext cx="4660537" cy="1976969"/>
              <a:chOff x="6858363" y="1986034"/>
              <a:chExt cx="4660537" cy="1976969"/>
            </a:xfrm>
          </p:grpSpPr>
          <p:sp>
            <p:nvSpPr>
              <p:cNvPr id="107" name="矩形: 圆角 106" descr="87d781c0-070d-4a76-bb8a-4cbab4497145"/>
              <p:cNvSpPr/>
              <p:nvPr/>
            </p:nvSpPr>
            <p:spPr>
              <a:xfrm>
                <a:off x="6858363" y="2477071"/>
                <a:ext cx="4660537" cy="1463073"/>
              </a:xfrm>
              <a:prstGeom prst="roundRect">
                <a:avLst>
                  <a:gd name="adj" fmla="val 4325"/>
                </a:avLst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11" name="任意多边形: 形状 110" descr="7b482bc9-d906-4b7b-a244-04846d262537"/>
              <p:cNvSpPr/>
              <p:nvPr/>
            </p:nvSpPr>
            <p:spPr>
              <a:xfrm>
                <a:off x="8845900" y="1986034"/>
                <a:ext cx="372453" cy="107211"/>
              </a:xfrm>
              <a:custGeom>
                <a:avLst/>
                <a:gdLst>
                  <a:gd name="connsiteX0" fmla="*/ 92583 w 170687"/>
                  <a:gd name="connsiteY0" fmla="*/ 78105 h 78104"/>
                  <a:gd name="connsiteX1" fmla="*/ 0 w 170687"/>
                  <a:gd name="connsiteY1" fmla="*/ 78105 h 78104"/>
                  <a:gd name="connsiteX2" fmla="*/ 78105 w 170687"/>
                  <a:gd name="connsiteY2" fmla="*/ 0 h 78104"/>
                  <a:gd name="connsiteX3" fmla="*/ 170688 w 170687"/>
                  <a:gd name="connsiteY3" fmla="*/ 0 h 78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0687" h="78104">
                    <a:moveTo>
                      <a:pt x="92583" y="78105"/>
                    </a:moveTo>
                    <a:lnTo>
                      <a:pt x="0" y="78105"/>
                    </a:lnTo>
                    <a:lnTo>
                      <a:pt x="78105" y="0"/>
                    </a:lnTo>
                    <a:lnTo>
                      <a:pt x="17068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  <a:endParaRPr/>
              </a:p>
            </p:txBody>
          </p:sp>
          <p:sp>
            <p:nvSpPr>
              <p:cNvPr id="112" name="任意多边形: 形状 111" descr="8b014444-c71a-4637-981c-b4b366623909"/>
              <p:cNvSpPr/>
              <p:nvPr/>
            </p:nvSpPr>
            <p:spPr>
              <a:xfrm>
                <a:off x="9188632" y="1986034"/>
                <a:ext cx="372453" cy="107211"/>
              </a:xfrm>
              <a:custGeom>
                <a:avLst/>
                <a:gdLst>
                  <a:gd name="connsiteX0" fmla="*/ 92583 w 170687"/>
                  <a:gd name="connsiteY0" fmla="*/ 78105 h 78104"/>
                  <a:gd name="connsiteX1" fmla="*/ 0 w 170687"/>
                  <a:gd name="connsiteY1" fmla="*/ 78105 h 78104"/>
                  <a:gd name="connsiteX2" fmla="*/ 78105 w 170687"/>
                  <a:gd name="connsiteY2" fmla="*/ 0 h 78104"/>
                  <a:gd name="connsiteX3" fmla="*/ 170688 w 170687"/>
                  <a:gd name="connsiteY3" fmla="*/ 0 h 78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0687" h="78104">
                    <a:moveTo>
                      <a:pt x="92583" y="78105"/>
                    </a:moveTo>
                    <a:lnTo>
                      <a:pt x="0" y="78105"/>
                    </a:lnTo>
                    <a:lnTo>
                      <a:pt x="78105" y="0"/>
                    </a:lnTo>
                    <a:lnTo>
                      <a:pt x="17068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  <a:endParaRPr/>
              </a:p>
            </p:txBody>
          </p:sp>
          <p:sp>
            <p:nvSpPr>
              <p:cNvPr id="113" name="任意多边形: 形状 112" descr="d78f0792-f593-4986-8885-321b5ff2e1d5"/>
              <p:cNvSpPr/>
              <p:nvPr/>
            </p:nvSpPr>
            <p:spPr>
              <a:xfrm>
                <a:off x="9531574" y="1986034"/>
                <a:ext cx="372453" cy="107211"/>
              </a:xfrm>
              <a:custGeom>
                <a:avLst/>
                <a:gdLst>
                  <a:gd name="connsiteX0" fmla="*/ 92583 w 170687"/>
                  <a:gd name="connsiteY0" fmla="*/ 78105 h 78104"/>
                  <a:gd name="connsiteX1" fmla="*/ 0 w 170687"/>
                  <a:gd name="connsiteY1" fmla="*/ 78105 h 78104"/>
                  <a:gd name="connsiteX2" fmla="*/ 78105 w 170687"/>
                  <a:gd name="connsiteY2" fmla="*/ 0 h 78104"/>
                  <a:gd name="connsiteX3" fmla="*/ 170688 w 170687"/>
                  <a:gd name="connsiteY3" fmla="*/ 0 h 78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0687" h="78104">
                    <a:moveTo>
                      <a:pt x="92583" y="78105"/>
                    </a:moveTo>
                    <a:lnTo>
                      <a:pt x="0" y="78105"/>
                    </a:lnTo>
                    <a:lnTo>
                      <a:pt x="78105" y="0"/>
                    </a:lnTo>
                    <a:lnTo>
                      <a:pt x="17068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  <a:endParaRPr/>
              </a:p>
            </p:txBody>
          </p:sp>
          <p:sp>
            <p:nvSpPr>
              <p:cNvPr id="110" name="平行四边形 109" descr="63737afe-5088-409b-b183-f3cfd12a136b"/>
              <p:cNvSpPr/>
              <p:nvPr/>
            </p:nvSpPr>
            <p:spPr>
              <a:xfrm>
                <a:off x="10834627" y="3917284"/>
                <a:ext cx="467150" cy="45719"/>
              </a:xfrm>
              <a:prstGeom prst="parallelogram">
                <a:avLst>
                  <a:gd name="adj" fmla="val 53255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/>
              </a:p>
            </p:txBody>
          </p:sp>
          <p:grpSp>
            <p:nvGrpSpPr>
              <p:cNvPr id="14" name="组合 13" descr="b08a9141-113e-493b-b017-87a1865b3249"/>
              <p:cNvGrpSpPr/>
              <p:nvPr/>
            </p:nvGrpSpPr>
            <p:grpSpPr>
              <a:xfrm>
                <a:off x="7005943" y="2093245"/>
                <a:ext cx="4346947" cy="1738527"/>
                <a:chOff x="7005943" y="2093245"/>
                <a:chExt cx="4346947" cy="1738527"/>
              </a:xfrm>
            </p:grpSpPr>
            <p:sp>
              <p:nvSpPr>
                <p:cNvPr id="114" name="Bullet2" descr="f730d986-ad93-4e42-b8e0-e66956edbbf8"/>
                <p:cNvSpPr txBox="1"/>
                <p:nvPr/>
              </p:nvSpPr>
              <p:spPr>
                <a:xfrm>
                  <a:off x="7005944" y="2093245"/>
                  <a:ext cx="3144817" cy="61245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txBody>
                <a:bodyPr wrap="square" lIns="91440" tIns="45720" rIns="91440" bIns="45720" anchor="ctr" anchorCtr="0">
                  <a:normAutofit/>
                </a:bodyPr>
                <a:lstStyle/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600" b="1" i="0" u="none" strike="noStrik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容器化技术</a:t>
                  </a:r>
                </a:p>
              </p:txBody>
            </p:sp>
            <p:sp>
              <p:nvSpPr>
                <p:cNvPr id="109" name="Text2" descr="4c28e762-c500-40b5-bb3f-806bef4c3daf"/>
                <p:cNvSpPr txBox="1"/>
                <p:nvPr/>
              </p:nvSpPr>
              <p:spPr>
                <a:xfrm>
                  <a:off x="7005943" y="2749244"/>
                  <a:ext cx="4346947" cy="10825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200" b="0" i="0" u="none" strike="noStrik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实践了使用Docker和Docker Compose进行应用打包、交付和运行，感受到了容器带来的标准化和快速部署优势。</a:t>
                  </a:r>
                </a:p>
              </p:txBody>
            </p:sp>
          </p:grpSp>
        </p:grpSp>
        <p:grpSp>
          <p:nvGrpSpPr>
            <p:cNvPr id="20" name="组合 19" descr="b243d6e5-c17c-4eda-ae92-fe024fae0d5b"/>
            <p:cNvGrpSpPr/>
            <p:nvPr/>
          </p:nvGrpSpPr>
          <p:grpSpPr>
            <a:xfrm>
              <a:off x="3759381" y="4157131"/>
              <a:ext cx="4660537" cy="1976969"/>
              <a:chOff x="3759381" y="4157131"/>
              <a:chExt cx="4660537" cy="1976969"/>
            </a:xfrm>
          </p:grpSpPr>
          <p:sp>
            <p:nvSpPr>
              <p:cNvPr id="116" name="矩形: 圆角 115" descr="11756344-159a-41c9-aebf-a37ce907a25f"/>
              <p:cNvSpPr/>
              <p:nvPr/>
            </p:nvSpPr>
            <p:spPr>
              <a:xfrm>
                <a:off x="3759381" y="4648168"/>
                <a:ext cx="4660537" cy="1463073"/>
              </a:xfrm>
              <a:prstGeom prst="roundRect">
                <a:avLst>
                  <a:gd name="adj" fmla="val 4325"/>
                </a:avLst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20" name="任意多边形: 形状 119" descr="d360fe33-1487-44bd-80ce-2f4838393e89"/>
              <p:cNvSpPr/>
              <p:nvPr/>
            </p:nvSpPr>
            <p:spPr>
              <a:xfrm>
                <a:off x="5746918" y="4157131"/>
                <a:ext cx="372453" cy="107211"/>
              </a:xfrm>
              <a:custGeom>
                <a:avLst/>
                <a:gdLst>
                  <a:gd name="connsiteX0" fmla="*/ 92583 w 170687"/>
                  <a:gd name="connsiteY0" fmla="*/ 78105 h 78104"/>
                  <a:gd name="connsiteX1" fmla="*/ 0 w 170687"/>
                  <a:gd name="connsiteY1" fmla="*/ 78105 h 78104"/>
                  <a:gd name="connsiteX2" fmla="*/ 78105 w 170687"/>
                  <a:gd name="connsiteY2" fmla="*/ 0 h 78104"/>
                  <a:gd name="connsiteX3" fmla="*/ 170688 w 170687"/>
                  <a:gd name="connsiteY3" fmla="*/ 0 h 78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0687" h="78104">
                    <a:moveTo>
                      <a:pt x="92583" y="78105"/>
                    </a:moveTo>
                    <a:lnTo>
                      <a:pt x="0" y="78105"/>
                    </a:lnTo>
                    <a:lnTo>
                      <a:pt x="78105" y="0"/>
                    </a:lnTo>
                    <a:lnTo>
                      <a:pt x="17068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  <a:endParaRPr/>
              </a:p>
            </p:txBody>
          </p:sp>
          <p:sp>
            <p:nvSpPr>
              <p:cNvPr id="121" name="任意多边形: 形状 120" descr="c8b7ffc5-2037-4198-8383-e3b1bb7cef2a"/>
              <p:cNvSpPr/>
              <p:nvPr/>
            </p:nvSpPr>
            <p:spPr>
              <a:xfrm>
                <a:off x="6089650" y="4157131"/>
                <a:ext cx="372453" cy="107211"/>
              </a:xfrm>
              <a:custGeom>
                <a:avLst/>
                <a:gdLst>
                  <a:gd name="connsiteX0" fmla="*/ 92583 w 170687"/>
                  <a:gd name="connsiteY0" fmla="*/ 78105 h 78104"/>
                  <a:gd name="connsiteX1" fmla="*/ 0 w 170687"/>
                  <a:gd name="connsiteY1" fmla="*/ 78105 h 78104"/>
                  <a:gd name="connsiteX2" fmla="*/ 78105 w 170687"/>
                  <a:gd name="connsiteY2" fmla="*/ 0 h 78104"/>
                  <a:gd name="connsiteX3" fmla="*/ 170688 w 170687"/>
                  <a:gd name="connsiteY3" fmla="*/ 0 h 78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0687" h="78104">
                    <a:moveTo>
                      <a:pt x="92583" y="78105"/>
                    </a:moveTo>
                    <a:lnTo>
                      <a:pt x="0" y="78105"/>
                    </a:lnTo>
                    <a:lnTo>
                      <a:pt x="78105" y="0"/>
                    </a:lnTo>
                    <a:lnTo>
                      <a:pt x="17068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  <a:endParaRPr/>
              </a:p>
            </p:txBody>
          </p:sp>
          <p:sp>
            <p:nvSpPr>
              <p:cNvPr id="122" name="任意多边形: 形状 121" descr="c65a6598-56f8-4933-b337-9dfe79925dad"/>
              <p:cNvSpPr/>
              <p:nvPr/>
            </p:nvSpPr>
            <p:spPr>
              <a:xfrm>
                <a:off x="6432592" y="4157131"/>
                <a:ext cx="372453" cy="107211"/>
              </a:xfrm>
              <a:custGeom>
                <a:avLst/>
                <a:gdLst>
                  <a:gd name="connsiteX0" fmla="*/ 92583 w 170687"/>
                  <a:gd name="connsiteY0" fmla="*/ 78105 h 78104"/>
                  <a:gd name="connsiteX1" fmla="*/ 0 w 170687"/>
                  <a:gd name="connsiteY1" fmla="*/ 78105 h 78104"/>
                  <a:gd name="connsiteX2" fmla="*/ 78105 w 170687"/>
                  <a:gd name="connsiteY2" fmla="*/ 0 h 78104"/>
                  <a:gd name="connsiteX3" fmla="*/ 170688 w 170687"/>
                  <a:gd name="connsiteY3" fmla="*/ 0 h 78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0687" h="78104">
                    <a:moveTo>
                      <a:pt x="92583" y="78105"/>
                    </a:moveTo>
                    <a:lnTo>
                      <a:pt x="0" y="78105"/>
                    </a:lnTo>
                    <a:lnTo>
                      <a:pt x="78105" y="0"/>
                    </a:lnTo>
                    <a:lnTo>
                      <a:pt x="17068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  <a:endParaRPr/>
              </a:p>
            </p:txBody>
          </p:sp>
          <p:sp>
            <p:nvSpPr>
              <p:cNvPr id="119" name="平行四边形 118" descr="63c26469-8866-469d-a976-353301d16d0a"/>
              <p:cNvSpPr/>
              <p:nvPr/>
            </p:nvSpPr>
            <p:spPr>
              <a:xfrm>
                <a:off x="7735645" y="6088381"/>
                <a:ext cx="467150" cy="45719"/>
              </a:xfrm>
              <a:prstGeom prst="parallelogram">
                <a:avLst>
                  <a:gd name="adj" fmla="val 53255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endParaRPr/>
              </a:p>
            </p:txBody>
          </p:sp>
          <p:grpSp>
            <p:nvGrpSpPr>
              <p:cNvPr id="15" name="组合 14" descr="56b390d7-9303-4f3f-9f95-971fea9220fe"/>
              <p:cNvGrpSpPr/>
              <p:nvPr/>
            </p:nvGrpSpPr>
            <p:grpSpPr>
              <a:xfrm>
                <a:off x="3906961" y="4264342"/>
                <a:ext cx="4346947" cy="1738527"/>
                <a:chOff x="3906961" y="4264342"/>
                <a:chExt cx="4346947" cy="1738527"/>
              </a:xfrm>
            </p:grpSpPr>
            <p:sp>
              <p:nvSpPr>
                <p:cNvPr id="123" name="Bullet3" descr="8180a4fe-03c3-4e13-8fbd-1f6f3c063cf0"/>
                <p:cNvSpPr txBox="1"/>
                <p:nvPr/>
              </p:nvSpPr>
              <p:spPr>
                <a:xfrm>
                  <a:off x="3906962" y="4264342"/>
                  <a:ext cx="3144817" cy="61245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txBody>
                <a:bodyPr wrap="square" lIns="91440" tIns="45720" rIns="91440" bIns="45720" anchor="ctr" anchorCtr="0">
                  <a:normAutofit/>
                </a:bodyPr>
                <a:lstStyle/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600" b="1" i="0" u="none" strike="noStrik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监控平台实践</a:t>
                  </a:r>
                </a:p>
              </p:txBody>
            </p:sp>
            <p:sp>
              <p:nvSpPr>
                <p:cNvPr id="118" name="Text3" descr="2a27436f-ab66-49d3-8d62-78f7081c195c"/>
                <p:cNvSpPr txBox="1"/>
                <p:nvPr/>
              </p:nvSpPr>
              <p:spPr>
                <a:xfrm>
                  <a:off x="3906961" y="4920341"/>
                  <a:ext cx="4346947" cy="10825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200" b="0" i="0" u="none" strike="noStrik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学习了Zabbix从搭建、配置监控项到设置告警的全流程，认识到了监控对于系统稳定性的重要性。</a:t>
                  </a:r>
                </a:p>
              </p:txBody>
            </p:sp>
          </p:grpSp>
        </p:grpSp>
      </p:grpSp>
      <p:sp>
        <p:nvSpPr>
          <p:cNvPr id="3" name="标题 2" descr="986ed6b0-9799-47a5-a099-9370a275831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626AF8"/>
                </a:solidFill>
                <a:ea typeface="微软雅黑" panose="020B0503020204020204" charset="-122"/>
              </a:rPr>
              <a:t>实验收获总结</a:t>
            </a: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 descr="bd67d64a-7bd9-4108-aa98-d2a32ceff73e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6000" b="1" i="0" u="none">
                <a:solidFill>
                  <a:srgbClr val="FFFFFF"/>
                </a:solidFill>
                <a:ea typeface="微软雅黑" panose="020B0503020204020204" charset="-122"/>
              </a:rPr>
              <a:t>谢谢观看</a:t>
            </a:r>
          </a:p>
        </p:txBody>
      </p:sp>
      <p:sp>
        <p:nvSpPr>
          <p:cNvPr id="4" name="文本占位符 3" descr="f8347768-7361-4c6f-a29d-69915bcafbfc"/>
          <p:cNvSpPr>
            <a:spLocks noGrp="1"/>
          </p:cNvSpPr>
          <p:nvPr>
            <p:ph type="body" sz="quarter" idx="13" hasCustomPrompt="1"/>
          </p:nvPr>
        </p:nvSpPr>
        <p:spPr/>
        <p:txBody>
          <a:bodyPr anchorCtr="0">
            <a:normAutofit fontScale="97500"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lang="zh-CN" altLang="en-US" sz="1200" b="0" i="0" u="none">
                <a:solidFill>
                  <a:srgbClr val="FFFFFF"/>
                </a:solidFill>
                <a:ea typeface="微软雅黑" panose="020B0503020204020204" charset="-122"/>
              </a:rPr>
              <a:t>曾庆庆、卢燕玲</a:t>
            </a:r>
          </a:p>
        </p:txBody>
      </p:sp>
      <p:sp>
        <p:nvSpPr>
          <p:cNvPr id="5" name="文本占位符 4" descr="c136a9f3-66d4-45cb-b25b-665328ca96b9"/>
          <p:cNvSpPr>
            <a:spLocks noGrp="1"/>
          </p:cNvSpPr>
          <p:nvPr>
            <p:ph type="body" sz="quarter" idx="14" hasCustomPrompt="1"/>
          </p:nvPr>
        </p:nvSpPr>
        <p:spPr/>
        <p:txBody>
          <a:bodyPr anchorCtr="0">
            <a:normAutofit fontScale="97500"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lang="en-US">
                <a:latin typeface="微软雅黑" panose="020B0503020204020204" charset="-122"/>
              </a:rPr>
              <a:t>2026.</a:t>
            </a:r>
            <a:r>
              <a:rPr lang="en-US" altLang="zh-CN">
                <a:latin typeface="微软雅黑" panose="020B0503020204020204" charset="-122"/>
              </a:rPr>
              <a:t>1.6</a:t>
            </a: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8.0.0"/>
  <p:tag name="AS_OS" val="Microsoft Windows NT 10.0.22631.0"/>
  <p:tag name="AS_RELEASE_DATE" val="2023.10.14"/>
  <p:tag name="AS_TITLE" val="Aspose.Slides for .NET6"/>
  <p:tag name="AS_VERSION" val="23.10"/>
  <p:tag name="ISLIDE.IMAGE" val="a8f029a5-230b-c27c-6a36-cbe3eb6bb4b0.jpg"/>
  <p:tag name="ISLIDE.IMAGEPOSITION" val="right-bottom"/>
  <p:tag name="ISLIDE.OUTLINE" val="29463"/>
  <p:tag name="ISLIDE.THEME" val="a8f029a5-230b-c27c-6a36-cbe3eb6bb4b0-14_133337749796714061.pptx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4.00015748031495,&quot;left&quot;:52,&quot;top&quot;:88.99984251968503,&quot;width&quot;:85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4.00015748031495,&quot;left&quot;:52,&quot;top&quot;:88.99984251968503,&quot;width&quot;:854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4.00015748031495,&quot;left&quot;:52,&quot;top&quot;:88.99984251968503,&quot;width&quot;:854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4.00015748031495,&quot;left&quot;:52,&quot;top&quot;:88.99984251968503,&quot;width&quot;:85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4.00015748031495,&quot;left&quot;:52,&quot;top&quot;:88.99984251968503,&quot;width&quot;:854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4.00015748031495,&quot;left&quot;:52,&quot;top&quot;:88.99984251968503,&quot;width&quot;:854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4.00015748031495,&quot;left&quot;:52,&quot;top&quot;:88.99984251968503,&quot;width&quot;:854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4.00015748031495,&quot;left&quot;:52,&quot;top&quot;:88.99984251968503,&quot;width&quot;:85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4.00015748031495,&quot;left&quot;:52,&quot;top&quot;:88.99984251968503,&quot;width&quot;:854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9.6235433070867,&quot;left&quot;:0,&quot;top&quot;:89.00007874015748,&quot;width&quot;:960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0.99992125984255,&quot;left&quot;:0,&quot;top&quot;:89.00007874015748,&quot;width&quot;:960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9.6235433070867,&quot;left&quot;:0,&quot;top&quot;:89.00007874015748,&quot;width&quot;:960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9.6235433070867,&quot;left&quot;:0,&quot;top&quot;:89.00007874015748,&quot;width&quot;:960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9.6235433070867,&quot;left&quot;:0,&quot;top&quot;:89.00007874015748,&quot;width&quot;:960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9.6235433070867,&quot;left&quot;:0,&quot;top&quot;:89.00007874015748,&quot;width&quot;:960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9.6235433070867,&quot;left&quot;:0,&quot;top&quot;:89.00007874015748,&quot;width&quot;:960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9.6235433070867,&quot;left&quot;:0,&quot;top&quot;:89.00007874015748,&quot;width&quot;:960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9.6235433070867,&quot;left&quot;:0,&quot;top&quot;:89.00007874015748,&quot;width&quot;:960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9.6235433070867,&quot;left&quot;:0,&quot;top&quot;:89.00007874015748,&quot;width&quot;:960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9.6235433070867,&quot;left&quot;:0,&quot;top&quot;:89.00007874015748,&quot;width&quot;:960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heme/theme1.xml><?xml version="1.0" encoding="utf-8"?>
<a:theme xmlns:a="http://schemas.openxmlformats.org/drawingml/2006/main" name="Designed by iSlide">
  <a:themeElements>
    <a:clrScheme name="iSlid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626AF8"/>
      </a:accent1>
      <a:accent2>
        <a:srgbClr val="4CC1F8"/>
      </a:accent2>
      <a:accent3>
        <a:srgbClr val="FF8C7E"/>
      </a:accent3>
      <a:accent4>
        <a:srgbClr val="4737EE"/>
      </a:accent4>
      <a:accent5>
        <a:srgbClr val="642DB7"/>
      </a:accent5>
      <a:accent6>
        <a:srgbClr val="82D6F6"/>
      </a:accent6>
      <a:hlink>
        <a:srgbClr val="4472C4"/>
      </a:hlink>
      <a:folHlink>
        <a:srgbClr val="BFBFBF"/>
      </a:folHlink>
    </a:clrScheme>
    <a:fontScheme name="iSlide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 Presentation Template</Template>
  <TotalTime>88</TotalTime>
  <Words>784</Words>
  <Application>Microsoft Office PowerPoint</Application>
  <PresentationFormat>宽屏</PresentationFormat>
  <Paragraphs>142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7" baseType="lpstr">
      <vt:lpstr>等线</vt:lpstr>
      <vt:lpstr>微软雅黑</vt:lpstr>
      <vt:lpstr>Arial</vt:lpstr>
      <vt:lpstr>Designed by iSlide</vt:lpstr>
      <vt:lpstr>云数据中心自动化实践</vt:lpstr>
      <vt:lpstr>目录</vt:lpstr>
      <vt:lpstr>实验环境规划与搭建</vt:lpstr>
      <vt:lpstr>虚拟机规划</vt:lpstr>
      <vt:lpstr>网络配置验证</vt:lpstr>
      <vt:lpstr>Ansible自动化基础配置</vt:lpstr>
      <vt:lpstr>Ansible安装与配置</vt:lpstr>
      <vt:lpstr>Inventory与连通性测试</vt:lpstr>
      <vt:lpstr>核心服务自动化部署</vt:lpstr>
      <vt:lpstr>DHCP服务器部署</vt:lpstr>
      <vt:lpstr>测试DHCP</vt:lpstr>
      <vt:lpstr>Docker容器化实践</vt:lpstr>
      <vt:lpstr>安装Docker</vt:lpstr>
      <vt:lpstr>Portainer可视化管理</vt:lpstr>
      <vt:lpstr>Docker部署WordPress和MariaDB</vt:lpstr>
      <vt:lpstr>Zabbix监控平台搭建与定制告警</vt:lpstr>
      <vt:lpstr>Zabbix平台搭建</vt:lpstr>
      <vt:lpstr>监控系统配置</vt:lpstr>
      <vt:lpstr>功能验证与结果展示</vt:lpstr>
      <vt:lpstr>综合功能验证</vt:lpstr>
      <vt:lpstr>总结与思考</vt:lpstr>
      <vt:lpstr>实验收获总结</vt:lpstr>
      <vt:lpstr>谢谢观看</vt:lpstr>
    </vt:vector>
  </TitlesOfParts>
  <Manager>Rin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全栈自动化监控与运维平台</dc:title>
  <dc:creator>Rin</dc:creator>
  <cp:lastModifiedBy>Administrator</cp:lastModifiedBy>
  <cp:revision>21</cp:revision>
  <cp:lastPrinted>2023-08-21T16:00:00Z</cp:lastPrinted>
  <dcterms:created xsi:type="dcterms:W3CDTF">2023-08-21T16:00:00Z</dcterms:created>
  <dcterms:modified xsi:type="dcterms:W3CDTF">2026-01-06T02:38:05Z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R12</vt:lpwstr>
  </property>
  <property fmtid="{D5CDD505-2E9C-101B-9397-08002B2CF9AE}" pid="3" name="KSOProductBuildVer">
    <vt:lpwstr>2052-12.1.0.24034</vt:lpwstr>
  </property>
  <property fmtid="{D5CDD505-2E9C-101B-9397-08002B2CF9AE}" pid="4" name="ICV">
    <vt:lpwstr>DFD61A34939741B7AC5564E27E1DCF45_13</vt:lpwstr>
  </property>
</Properties>
</file>